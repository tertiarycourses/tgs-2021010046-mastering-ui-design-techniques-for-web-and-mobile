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Task success / 5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Revision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Critical errors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Revision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2880"/>
            <a:ext cx="7662672" cy="6309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02920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91640"/>
            <a:ext cx="448056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B5BA9"/>
                </a:solidFill>
                <a:latin typeface="Arial"/>
              </a:rPr>
              <a:t>WSQ COURSE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663440" cy="21031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400" b="1">
                <a:solidFill>
                  <a:srgbClr val="14263F"/>
                </a:solidFill>
                <a:latin typeface="Arial"/>
              </a:rPr>
              <a:t>Mastering UI Design Techniques for Web and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4937760" cy="38404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900" b="1">
                <a:solidFill>
                  <a:srgbClr val="00918B"/>
                </a:solidFill>
                <a:latin typeface="Arial"/>
              </a:rPr>
              <a:t> TGS-2021010046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49377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556574"/>
                </a:solidFill>
                <a:latin typeface="Arial"/>
              </a:rPr>
              <a:t>v12 · 14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502920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556574"/>
                </a:solidFill>
                <a:latin typeface="Arial"/>
              </a:rPr>
              <a:t>Tertiary Infotech Academy Pte Ltd
UEN 201200696W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COURSE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LO1 · Identify user needs and information 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LO2 · Develop UI prototype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LO3 · Design and validate interfaces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LO4 · Document and export the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ICT-DES-3008-1.1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TSC evidence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K1–K3 · explain mechanisms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A1–A2 · needs and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A3–A5 · prototype and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A6–A7 · document and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WA + PRACTICAL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Assessment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303520" cy="3566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73152" cy="3566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83664"/>
            <a:ext cx="493775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Written · 60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95728"/>
            <a:ext cx="493775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Open-ended questions test K1–K3. Use approved course materials; write in your own words.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3794760"/>
            <a:ext cx="486460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3977640"/>
            <a:ext cx="1909267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233672"/>
            <a:ext cx="3606393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4453128"/>
            <a:ext cx="291693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46360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5303520" cy="3566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73152" cy="3566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883664"/>
            <a:ext cx="493775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Practical · 90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395728"/>
            <a:ext cx="493775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Produce a UI flow, prototype, validation record and handoff evidence mapped to A1–A7.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37376" y="3794760"/>
            <a:ext cx="486460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38544" y="3977640"/>
            <a:ext cx="1909267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38544" y="4233672"/>
            <a:ext cx="3606393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38544" y="4453128"/>
            <a:ext cx="291693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52760" y="463600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LEARNER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Course material on 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303520" cy="4023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73152" cy="40233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83664"/>
            <a:ext cx="493775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Course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95728"/>
            <a:ext cx="493775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lms-tms.tertiaryinfotech.com · TGS-2021010046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251960"/>
            <a:ext cx="486460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434840"/>
            <a:ext cx="1909267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690872"/>
            <a:ext cx="3606393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4910328"/>
            <a:ext cx="291693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50932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5303520" cy="4023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73152" cy="40233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883664"/>
            <a:ext cx="493775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Courseware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395728"/>
            <a:ext cx="493775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Slides PDF · Learner Guide · Lesson Plan · six lab folders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37376" y="4251960"/>
            <a:ext cx="486460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38544" y="4434840"/>
            <a:ext cx="1909267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38544" y="4690872"/>
            <a:ext cx="3606393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38544" y="4910328"/>
            <a:ext cx="291693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52760" y="509320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Trainer profile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120640" cy="41148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73152" cy="41148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8366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Trainer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9572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Professional role, industry projects and teaching credentials to be completed by assigned trainer.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34340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52628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78231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0176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18464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737360"/>
            <a:ext cx="5394960" cy="41148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737360"/>
            <a:ext cx="73152" cy="411480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8366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Contact &amp; consultation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9572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Introduce your relevant UI work, portfolio examples and support channel.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34340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52628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78231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01768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18464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Dr Alfred 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120640" cy="41148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73152" cy="41148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8366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Course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9572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Dr Alfred Ang · courseware development and technical education.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34340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52628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78231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0176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18464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737360"/>
            <a:ext cx="5394960" cy="41148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737360"/>
            <a:ext cx="73152" cy="411480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8366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Evidence in this 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9572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Scenario briefs, prototypes, design systems, validation logs and handoff artifacts.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34340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52628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78231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01768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18464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User needs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 clinic patient must reschedule in under 45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Expose Reschedule beside appointment details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User needs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booking cancellation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Booking Cancellation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Expose Reschedule beside appointment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User needs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 clinic patient must reschedule in under 45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booking cancellation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Expose Reschedule beside appointment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User needs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Expose Reschedule beside appointment details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A clinic patient must reschedule in under 45 seconds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booking cancellation against the rule.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User needs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booking cancellation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User needs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booking cancellation as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User needs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Hiding the control in account settings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Expose Reschedule beside appointment details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User needs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booking cancellation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Expose Reschedule beside appointment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Research evidence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Five patients describe a cancellation path; three expect a calendar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Map the observed intent before drawing screens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Research evidence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task interview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Task Interview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Map the observed intent before drawing screens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Research evidence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Five patients describe a cancellation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task interview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Map the observed intent before drawing screens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Research evidence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Map the observed intent before drawing screens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Five patients describe a cancellation path; three expect a calendar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task interview against the rule.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Research evidence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task interview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Research evidence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task interview as evidence.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Research evidence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Treating a designer assumption as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Map the observed intent before drawing screens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Research evidence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task interview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Map the observed intent before drawing screens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Persona constraint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 52-year-old patient uses 200% text on a train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labels and actions legible at zoom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Persona constraint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low-vision commuter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Low-Vision Commuter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Keep labels and actions legible at zoom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Persona constraint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 52-year-old patient uses 200% text on a 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low-vision commuter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labels and actions legible at zoom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Persona constraint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labels and actions legible at zoom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A 52-year-old patient uses 200% text on a train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low-vision commuter against the rule.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Persona constraint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low-vision commuter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Persona constraint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low-vision commuter as evidence.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Persona constraint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Using tiny icon-only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labels and actions legible at zoom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Persona constraint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low-vision commuter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Keep labels and actions legible at zoom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Journey mapping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 slot disappears between search and confirmation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Return to available slots with criteria retained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Journey mapping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failed-slot recovery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Failed-Slot Recovery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Return to available slots with criteria retained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Journey mapping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 slot disappears between search and confirmation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failed-slot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Return to available slots with criteria retained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Journey mapping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Return to available slots with criteria retained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A slot disappears between search and confirmation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failed-slot recovery against the rule.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Journey mapping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failed-slot recovery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Journey mapping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failed-slot recovery as evidence.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Journey mapping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Resetting search and losing intent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Return to available slots with criteria retained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Journey mapping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failed-slot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Return to available slots with criteria retained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architecture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Appointments, care teams and account are separate objects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task-based primary navigation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architecture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41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clinic navigation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Clinic Navigation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Use task-based primary navigation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architecture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Appointments, care teams and account are separate objects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clinic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task-based primary navigation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architecture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43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task-based primary navigation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Appointments, care teams and account are separate objects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clinic navigation against the rule.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architecture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clinic navigation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architecture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clinic navigation as evidence.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architecture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Organising menus by internal department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task-based primary navigation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architecture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47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clinic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Use task-based primary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flow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48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Search → select → verify → confirm → receipt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Track state and data at each transition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flow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49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booking state 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Booking State 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Track state and data at each transition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flow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Search → select → verify → confirm → receipt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booking state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Track state and data at each transition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flow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Track state and data at each transition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Search → select → verify → confirm → receipt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booking state graph against the rule.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flow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booking state graph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flow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53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booking state graph as evidence.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flow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54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No route back from verification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Track state and data at each transition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1 / LAB 01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Information flow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55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booking state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Track state and data at each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Wireframe fidelity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56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Header, appointment card and primary action must fit 390 px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Validate hierarchy before visual polish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Wireframe fidelity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57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booking screen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Booking Screen 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Validate hierarchy before visual polish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Wireframe fidelity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58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Header, appointment card and primary action must fit 390 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booking screen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Validate hierarchy before visual polish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Wireframe fidelity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Validate hierarchy before visual polish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Header, appointment card and primary action must fit 390 px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booking screen structure against the rule.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Wireframe fidelity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booking screen structure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Wireframe fidelity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61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booking screen structure as evidence.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Wireframe fidelity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62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Starting with decorative imagery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Validate hierarchy before visual polish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Wireframe fidelity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booking screen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Validate hierarchy before visual polish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Prompt specification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64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Define audience, task, constraints, breakpoints and success criteria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Give Claude a testable design brief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Prompt specification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65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Claude Design brief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Claude Design Brief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Give Claude a testable design brief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Prompt specification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66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Define audience, task, constraints, breakpoints and 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Claude Design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Give Claude a testable design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Prompt specification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67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Give Claude a testable design brief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Define audience, task, constraints, breakpoints and success criteria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Claude Design brief against the rule.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Prompt specification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Claude Design brief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Prompt specification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69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Claude Design brief as evidence.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Prompt specification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70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Prompting only “make it modern”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Give Claude a testable design brief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Prompt specification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71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Claude Design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Give Claude a testable design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Responsive layout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72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 4-column grid becomes 2 columns then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Preserve product order and card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Responsive layout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73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retail product grid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Retail Product Grid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Preserve product order and card action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Responsive layout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74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 4-column grid becomes 2 columns then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retail product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Preserve product order and card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Responsive layout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75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Preserve product order and card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A 4-column grid becomes 2 columns then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retail product grid against the rule.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Responsive layout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retail product grid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Responsive layout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retail product grid as evidence.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Responsive layout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78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Shrinking four columns onto a phone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Preserve product order and card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Responsive layout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79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retail product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Preserve product order and card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anatomy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80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Image, name, price, stock status and CTA have fixed roles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Specify props and empty/disabled states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anatomy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81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product card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Product Card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Specify props and empty/disabled states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anatomy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82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Image, name, price, stock status and CTA have fixed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product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Specify props and empty/disabled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anatomy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83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Specify props and empty/disabled 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Image, name, price, stock status and CTA have fixed roles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product card against the rule.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anatomy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product card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anatomy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85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product card as evidence.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anatomy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86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Embedding all text into one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Specify props and empty/disabled states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anatomy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87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product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Specify props and empty/disabled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 tokens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88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Primary #165C72, space 8/16/24, type 16/24/36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semantic tokens across screens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 tokens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89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retail visual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Retail Visual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Use semantic tokens across screens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 tokens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90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Primary #165C72, space 8/16/24, type 16/24/36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retail visual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semantic tokens across screens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 tokens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91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semantic tokens across screens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Primary #165C72, space 8/16/24, type 16/24/36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retail visual system against the rule.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 tokens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retail visual system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 tokens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93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retail visual system as evidence.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 tokens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94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Using arbitrary per-screen colors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semantic tokens across screens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 tokens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95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retail visual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Use semantic tokens across screens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Interaction state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96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Default → loading → added or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Show feedback and prevent duplicate request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Interaction state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97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add-to-cart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Add-To-Cart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Show feedback and prevent duplicate request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Interaction state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98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Default → loading → added or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add-to-cart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Show feedback and prevent duplicate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Interaction state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99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Show feedback and prevent duplicate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Default → loading → added or 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add-to-cart control against the rule.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Interaction state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add-to-cart control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Interaction state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add-to-cart control as evidence.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Interaction state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Button gives no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Show feedback and prevent duplicate request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2 / LAB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Interaction state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add-to-cart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Show feedback and prevent duplicate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Accessibility contrast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White on #165C72 must be checked against 4.5:1 for normal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Measure actual foreground/background pair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Accessibility contrast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cart CTA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Cart Cta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Measure actual foreground/background pair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Accessibility contrast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White on #165C72 must be checked against 4.5:1 for normal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cart CTA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Measure actual foreground/background 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Accessibility contrast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Measure actual foreground/background pair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White on #165C72 must be checked against 4.5:1 for normal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cart CTA against the rule.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Accessibility contrast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cart CTA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Accessibility contrast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cart CTA as evidence.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Accessibility contrast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Assuming brand color is accessible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Measure actual foreground/background pair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Accessibility contrast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cart CTA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Measure actual foreground/background pair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Keyboard focus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Tab order follows address, delivery, payment,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Make focus visible and order logical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Keyboard focus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checkout 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Checkout 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Make focus visible and order logical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Keyboard focus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Tab order follows address, delivery, payment,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checkout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Make focus visible and order logical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Keyboard focus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Make focus visible and order logical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Tab order follows address, delivery, payment,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checkout form against the rule.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Keyboard focus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checkout form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Keyboard focus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checkout form as evidence.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Keyboard focus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Focus trapped in a modal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Make focus visible and order logical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Keyboard focus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checkout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Make focus visible and order logical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Content hierarchy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120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Event, date, venue and price are first-scan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one dominant headline and short proof 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Content hierarchy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festival flyer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Festival Flyer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Use one dominant headline and short proof points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Content hierarchy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Event, date, venue and price are first-scan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festival flyer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one dominant headline and short proof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Content hierarchy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one dominant headline and short proof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Event, date, venue and price are first-scan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festival flyer against the rule.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Content hierarchy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festival flyer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Content hierarchy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festival flyer as evidence.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Content hierarchy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All details have equal visual weight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one dominant headline and short proof 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Content hierarchy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127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festival flyer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Use one dominant headline and short proof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Print safety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Bleed 3 mm, safe zone 5 mm, 300 dpi assets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critical text inside safe zone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Print safety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129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A5 flyer layout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A5 Flyer Layout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Keep critical text inside safe zone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Print safety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130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Bleed 3 mm, safe zone 5 mm, 300 dpi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A5 flyer 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critical text inside safe zone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Print safety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131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critical text inside safe zone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Bleed 3 mm, safe zone 5 mm, 300 dpi assets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A5 flyer layout against the rule.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Print safety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A5 flyer layout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Print safety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133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A5 flyer layout as evidence.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Print safety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134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Text clipped at trim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critical text inside safe zone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Print safety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135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A5 flyer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Keep critical text inside safe zone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Campaign consistency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QR landing page repeats event name, date and CTA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Maintain message and visual continuity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Campaign consistency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137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flyer to landing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Flyer To Landing Page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Maintain message and visual continuity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Campaign consistency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QR landing page repeats event name, date and CTA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flyer to landing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Maintain message and visual continuity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Campaign consistency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139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Maintain message and visual continuity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QR landing page repeats event name, date and CTA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flyer to landing page against the rule.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Campaign consistency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flyer to landing page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Campaign consistency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141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flyer to landing page as evidence.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Campaign consistency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142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QR opens an unrelated generic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Maintain message and visual continuity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Campaign consistency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143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flyer to landing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Maintain message and visual continuity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Brochure sequencing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144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Front promise → inside evidence → back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Plan panel order before export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Brochure sequencing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145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tri-fold reading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Tri-Fold Reading Order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Plan panel order before export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Brochure sequencing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146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Front promise → inside evidence → back 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tri-fold reading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Plan panel order before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Brochure sequencing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147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Plan panel order before export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Front promise → inside evidence → back contact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tri-fold reading order against the rule.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Brochure sequencing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tri-fold reading order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Brochure sequencing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149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tri-fold reading order as evidence.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Brochure sequencing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150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Panels read backward after folding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Plan panel order before export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3 / LAB 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Brochure sequencing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151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tri-fold reading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Plan panel order before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Long-form content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152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Benefits, schedule, accessibility and registration need scannable sections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Separate promises from factual logistics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Long-form content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153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programme brochure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Programme Brochure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Separate promises from factual logistics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Long-form content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154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Benefits, schedule, accessibility and registration need scannable sect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programme brochure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Separate promises from factual logistics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Long-form content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155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Separate promises from factual logistics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Benefits, schedule, accessibility and registration need scannable sections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programme brochure against the rule.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Long-form content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programme brochure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Long-form content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157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programme brochure as evidence.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Long-form content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158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Dense wall of 9-point copy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Separate promises from factual logistics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Long-form content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159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programme brochure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Separate promises from factual 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Design-system import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160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Upload brand PDF and component screenshots, review extracted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Correct extracted color and typography before publishing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Design-system import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161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Claude Design UI kit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Claude Design Ui Kit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Correct extracted color and typography before publishing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Design-system import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162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Upload brand PDF and component screenshots, review extracted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Claude Design UI 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Correct extracted color and typography before publishing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Design-system import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163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Correct extracted color and typography before publishing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Upload brand PDF and component screenshots, review extracted tokens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Claude Design UI kit against the rule.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Design-system import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Claude Design UI kit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Design-system import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165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Claude Design UI kit as evidence.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Design-system import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166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Publishing an unreviewed extraction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Correct extracted color and typography before publishing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Design-system import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167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Claude Design UI 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Correct extracted color and typography before 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variants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168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Primary, secondary, disabled and loading variants share geometry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Document variants and use cases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variants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169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design-system button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Design-System Button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Document variants and use cases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variants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170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Primary, secondary, disabled and loading variants share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design-system button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Document variants and use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variants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171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Document variants and use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Primary, secondary, disabled and loading variants share geometry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design-system button against the rule.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variants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design-system button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variants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173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design-system button as evidence.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variants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174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One button style used for every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Document variants and use cases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05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Component variants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175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design-system button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Document variants and 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Usability metrics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176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Success 4/5, median 42 s, 2 critical errors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predefined success and error rules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Usability metrics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177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task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Task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Use predefined success and error rules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Usability metrics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178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Success 4/5, median 42 s, 2 critical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task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predefined success and error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Usability metrics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179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predefined success and error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Success 4/5, median 42 s, 2 critical errors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task test against the rule.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Usability metrics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task test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Usability metrics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181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task test as evidence.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Usability metrics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182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Reporting only that testers liked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 predefined success and error rules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Usability metrics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183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task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Use predefined success and error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Iteration evidence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184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Before 3/5 completion; after 5/5 on the same task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Record change, test conditions and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Iteration evidence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185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before/after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Before/After Comparison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Record change, test conditions and result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Iteration evidence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186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Before 3/5 completion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before/after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Record change, test conditions and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Iteration evidence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187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Record change, test conditions and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Before 3/5 completion; after 5/5 on the same task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before/after comparison against the rule.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Iteration evidence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before/after comparison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Iteration evidence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189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before/after comparison as evidence.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Iteration evidence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190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Claiming improvement from an untested mockup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Record change, test conditions and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Iteration evidence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191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before/after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Record change, test conditions and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Handoff package ·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192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HTML/PDF exports plus tokens, states, assets and change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3484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1772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87375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093207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27608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5394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73152" cy="42519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837944"/>
            <a:ext cx="50292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350008"/>
            <a:ext cx="50292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Package artifacts with acceptance criteria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4434840"/>
            <a:ext cx="49560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1942185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4873752"/>
            <a:ext cx="36685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5093207"/>
            <a:ext cx="296722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61320" y="52760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Handoff package · Artifact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193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84048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347472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Working artifact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47472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export and documentation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340156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38257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2611526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11226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737360"/>
            <a:ext cx="6537960" cy="42519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965960"/>
            <a:ext cx="6035040" cy="4114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39112"/>
            <a:ext cx="512064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Export And Documentation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697480"/>
            <a:ext cx="2057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2697480"/>
            <a:ext cx="3337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2953512"/>
            <a:ext cx="16459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3248" y="3264408"/>
            <a:ext cx="1325880" cy="100584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9248" y="2953512"/>
            <a:ext cx="237744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99248" y="3337560"/>
            <a:ext cx="26060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99248" y="3630168"/>
            <a:ext cx="201168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4297680"/>
            <a:ext cx="1508760" cy="39319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5349240"/>
            <a:ext cx="576072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200" b="0">
                <a:solidFill>
                  <a:srgbClr val="14263F"/>
                </a:solidFill>
                <a:latin typeface="Arial"/>
              </a:rPr>
              <a:t>Package artifacts with acceptance criteria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Handoff package · Flow /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194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HTML/PDF exports plus tokens, states, assets and change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export and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Package artifacts with acceptance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evidence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Handoff package · Design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195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663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2976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2976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Package artifacts with acceptance criteria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2245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78838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171139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56489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5532120" cy="9144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221992"/>
            <a:ext cx="512064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0">
                <a:solidFill>
                  <a:srgbClr val="14263F"/>
                </a:solidFill>
                <a:latin typeface="Arial"/>
              </a:rPr>
              <a:t>HTML/PDF exports plus tokens, states, assets and change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063240"/>
            <a:ext cx="109728" cy="6400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3749039"/>
            <a:ext cx="5532120" cy="1143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023360"/>
            <a:ext cx="5120640" cy="640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1B5BA9"/>
                </a:solidFill>
                <a:latin typeface="Arial"/>
              </a:rPr>
              <a:t>Inspect the export and documentation against the rule.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Handoff package · Responsive or print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60704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rial"/>
              </a:rPr>
              <a:t>Inspect the export and documentation across required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53949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560320"/>
            <a:ext cx="51389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0292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48006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466344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3949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DESKTOP / FULL 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292608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8816" y="2560320"/>
            <a:ext cx="267004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256032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383280"/>
            <a:ext cx="233172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657600"/>
            <a:ext cx="219456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292608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TABLET / FOLDED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423160"/>
            <a:ext cx="1737360" cy="28803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6" y="2560320"/>
            <a:ext cx="1481328" cy="237744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84080" y="3063240"/>
            <a:ext cx="1371600" cy="1554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3383280"/>
            <a:ext cx="1143000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3657600"/>
            <a:ext cx="1005839" cy="91440"/>
          </a:xfrm>
          <a:prstGeom prst="rect">
            <a:avLst/>
          </a:prstGeom>
          <a:solidFill>
            <a:srgbClr val="5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251960"/>
            <a:ext cx="1188720" cy="329184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486400"/>
            <a:ext cx="173736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1B5BA9"/>
                </a:solidFill>
                <a:latin typeface="Arial"/>
              </a:rPr>
              <a:t>MOBILE / PANEL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Handoff package · Accessibility /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197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448056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1148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Quality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1148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Verify labels, contrast, focus or print legibility for the target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0416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613001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046780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46430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691640"/>
            <a:ext cx="58064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CHECK → RECORD → REVISE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788920"/>
            <a:ext cx="384048" cy="384048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Readable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538727"/>
            <a:ext cx="384048" cy="384048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7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Clear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288536"/>
            <a:ext cx="384048" cy="384048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88536"/>
            <a:ext cx="44805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0">
                <a:solidFill>
                  <a:srgbClr val="14263F"/>
                </a:solidFill>
                <a:latin typeface="Arial"/>
              </a:rPr>
              <a:t>Recovery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0292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14263F"/>
                </a:solidFill>
                <a:latin typeface="Arial"/>
              </a:rPr>
              <a:t>Capture export and documentation as evidence.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Handoff package · Failure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198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F2A83A"/>
                </a:solidFill>
                <a:latin typeface="Arial"/>
              </a:rPr>
              <a:t>Observed defect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Sending an image without interaction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07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5321808"/>
            <a:ext cx="566928" cy="210312"/>
          </a:xfrm>
          <a:prstGeom prst="rect">
            <a:avLst/>
          </a:prstGeom>
          <a:solidFill>
            <a:srgbClr val="F2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5120640" cy="42976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73152" cy="429768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837944"/>
            <a:ext cx="47548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Revised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50008"/>
            <a:ext cx="47548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Package artifacts with acceptance criteria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4480560"/>
            <a:ext cx="46817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47104" y="4663440"/>
            <a:ext cx="1843430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47104" y="4919472"/>
            <a:ext cx="3482035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47104" y="5138928"/>
            <a:ext cx="281635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78440" y="5321808"/>
            <a:ext cx="566928" cy="210312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3200400"/>
            <a:ext cx="320040" cy="5486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3000" b="1">
                <a:solidFill>
                  <a:srgbClr val="1B5BA9"/>
                </a:solidFill>
                <a:latin typeface="Arial"/>
              </a:rPr>
              <a:t>›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TOPIC 4 / LAB 06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Handoff package · Evidence to retain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199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Save initial export and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Change: Package artifacts with acceptance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Retest same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Keep export + evidence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CONCEPT VISUAL / PROJECT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Festival flyer · visual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200</a:t>
            </a:r>
          </a:p>
        </p:txBody>
      </p:sp>
      <p:pic>
        <p:nvPicPr>
          <p:cNvPr id="8" name="Picture 7" descr="festival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583680" cy="4480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645920"/>
            <a:ext cx="4023360" cy="44805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645920"/>
            <a:ext cx="73152" cy="44805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1792224"/>
            <a:ext cx="36576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304288"/>
            <a:ext cx="36576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Headline, date and registration must sit in the A5 safe zone.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17536" y="4617720"/>
            <a:ext cx="35844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18704" y="4800600"/>
            <a:ext cx="1448409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18704" y="5056632"/>
            <a:ext cx="273588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18704" y="5276088"/>
            <a:ext cx="221284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545896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CONCEPT VISUAL / PROJECT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Programme brochure · panel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201</a:t>
            </a:r>
          </a:p>
        </p:txBody>
      </p:sp>
      <p:pic>
        <p:nvPicPr>
          <p:cNvPr id="8" name="Picture 7" descr="workshop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583680" cy="4480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645920"/>
            <a:ext cx="4023360" cy="44805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645920"/>
            <a:ext cx="73152" cy="44805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1792224"/>
            <a:ext cx="365760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Design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304288"/>
            <a:ext cx="365760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Front promise → inside evidence → back contact; verify the folded proof.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17536" y="4617720"/>
            <a:ext cx="358444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18704" y="4800600"/>
            <a:ext cx="1448409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18704" y="5056632"/>
            <a:ext cx="2735884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18704" y="5276088"/>
            <a:ext cx="2212848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545896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CITYCARE / DESIGN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Lab 01 · Clinic Booking Mobile specimen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202</a:t>
            </a:r>
          </a:p>
        </p:txBody>
      </p:sp>
      <p:pic>
        <p:nvPicPr>
          <p:cNvPr id="8" name="Picture 7" descr="spec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348772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645920"/>
            <a:ext cx="3291840" cy="45262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73152" cy="45262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1792224"/>
            <a:ext cx="292608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Review criterion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304288"/>
            <a:ext cx="292608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390 px mobile; appointment completion &lt;= 45 seconds; large text and clear recovery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9056" y="4663440"/>
            <a:ext cx="285292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0224" y="4846320"/>
            <a:ext cx="118506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50224" y="5102352"/>
            <a:ext cx="2238451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50224" y="5321807"/>
            <a:ext cx="181051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55046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TRAILGOODS / DESIGN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Lab 02 · Responsive Retail Web specimen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203</a:t>
            </a:r>
          </a:p>
        </p:txBody>
      </p:sp>
      <p:pic>
        <p:nvPicPr>
          <p:cNvPr id="8" name="Picture 7" descr="spec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789420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645920"/>
            <a:ext cx="3291840" cy="45262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73152" cy="45262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1792224"/>
            <a:ext cx="292608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Review criterion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304288"/>
            <a:ext cx="292608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1440/768/390 px; card and button variants; keyboard focus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9056" y="4663440"/>
            <a:ext cx="285292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0224" y="4846320"/>
            <a:ext cx="118506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50224" y="5102352"/>
            <a:ext cx="2238451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50224" y="5321807"/>
            <a:ext cx="181051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55046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NEIGHBOURHOOD ARTS WEEK / DESIGN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Lab 03 · Festival Flyer and Landing Page specimen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204</a:t>
            </a:r>
          </a:p>
        </p:txBody>
      </p:sp>
      <p:pic>
        <p:nvPicPr>
          <p:cNvPr id="8" name="Picture 7" descr="spec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29624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645920"/>
            <a:ext cx="3291840" cy="45262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73152" cy="45262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1792224"/>
            <a:ext cx="292608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Review criterion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304288"/>
            <a:ext cx="292608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3 mm bleed; 5 mm safe zone; matching event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9056" y="4663440"/>
            <a:ext cx="285292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0224" y="4846320"/>
            <a:ext cx="118506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50224" y="5102352"/>
            <a:ext cx="2238451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50224" y="5321807"/>
            <a:ext cx="181051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55046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HARBOUR LEARNING / DESIGN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Lab 04 · Programme Brochure specimen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205</a:t>
            </a:r>
          </a:p>
        </p:txBody>
      </p:sp>
      <p:pic>
        <p:nvPicPr>
          <p:cNvPr id="8" name="Picture 7" descr="spec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789420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645920"/>
            <a:ext cx="3291840" cy="45262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73152" cy="45262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1792224"/>
            <a:ext cx="292608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Review criterion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304288"/>
            <a:ext cx="292608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Correct panel order; readable type; factual schedule and contact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9056" y="4663440"/>
            <a:ext cx="285292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0224" y="4846320"/>
            <a:ext cx="118506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50224" y="5102352"/>
            <a:ext cx="2238451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50224" y="5321807"/>
            <a:ext cx="181051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55046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TRAILGOODS / DESIGN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Lab 05 · Claude Design System specimen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206</a:t>
            </a:r>
          </a:p>
        </p:txBody>
      </p:sp>
      <p:pic>
        <p:nvPicPr>
          <p:cNvPr id="8" name="Picture 7" descr="spec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789420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645920"/>
            <a:ext cx="3291840" cy="45262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73152" cy="45262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1792224"/>
            <a:ext cx="292608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Review criterion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304288"/>
            <a:ext cx="292608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Review imported tokens and publish only after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9056" y="4663440"/>
            <a:ext cx="285292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0224" y="4846320"/>
            <a:ext cx="118506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50224" y="5102352"/>
            <a:ext cx="2238451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50224" y="5321807"/>
            <a:ext cx="181051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55046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CITYCARE / DESIGN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Lab 06 · Validation and Handoff specimen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207</a:t>
            </a:r>
          </a:p>
        </p:txBody>
      </p:sp>
      <p:pic>
        <p:nvPicPr>
          <p:cNvPr id="8" name="Picture 7" descr="spec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789420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645920"/>
            <a:ext cx="3291840" cy="452628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73152" cy="452628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1792224"/>
            <a:ext cx="2926080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Review criterion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304288"/>
            <a:ext cx="2926080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Five tests; success/time/error rules; export current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9056" y="4663440"/>
            <a:ext cx="2852928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50224" y="4846320"/>
            <a:ext cx="1185062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50224" y="5102352"/>
            <a:ext cx="2238451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50224" y="5321807"/>
            <a:ext cx="181051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2760" y="550468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LO3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Usability test results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208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645920"/>
          <a:ext cx="6675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828800"/>
            <a:ext cx="3749039" cy="347472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828800"/>
            <a:ext cx="73152" cy="347472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1975104"/>
            <a:ext cx="3383279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487168"/>
            <a:ext cx="3383279" cy="17830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Five comparable tests show task success rising from 3/5 to 5/5. Verify the same task and criteria.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46136" y="3794760"/>
            <a:ext cx="3310127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47304" y="3977640"/>
            <a:ext cx="1349654" cy="11887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4233672"/>
            <a:ext cx="2549347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7304" y="4453128"/>
            <a:ext cx="2061972" cy="91440"/>
          </a:xfrm>
          <a:prstGeom prst="rect">
            <a:avLst/>
          </a:prstGeom>
          <a:solidFill>
            <a:srgbClr val="B9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07040" y="4636008"/>
            <a:ext cx="566928" cy="210312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WA → PP →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Assessment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Written Assessment · K1–K3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Practical Performance · A1–A7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Assessor feedback · C or NYC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Summary record and sign-off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LO4 / A6–A7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Final design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Current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Token and state specification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73152" cy="242316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00918B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Change log + test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3063240"/>
            <a:ext cx="18288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500" b="1">
                <a:solidFill>
                  <a:srgbClr val="F2A83A"/>
                </a:solidFill>
                <a:latin typeface="Arial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148840"/>
            <a:ext cx="2532888" cy="242316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148840"/>
            <a:ext cx="73152" cy="2423160"/>
          </a:xfrm>
          <a:prstGeom prst="rect">
            <a:avLst/>
          </a:prstGeom>
          <a:solidFill>
            <a:srgbClr val="1B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295144"/>
            <a:ext cx="2167128" cy="40233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600" b="1">
                <a:solidFill>
                  <a:srgbClr val="1B5BA9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807208"/>
            <a:ext cx="2167128" cy="164591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14263F"/>
                </a:solidFill>
                <a:latin typeface="Arial"/>
              </a:rPr>
              <a:t>User guide and acceptance checklist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100" b="1">
                <a:solidFill>
                  <a:srgbClr val="00918B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9144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1440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Mastering UI Design Techniques for Web and Mobile · TGS-2021010046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457200" cy="1828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800" b="0">
                <a:solidFill>
                  <a:srgbClr val="556574"/>
                </a:solidFill>
                <a:latin typeface="Arial"/>
              </a:rPr>
              <a:t>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1371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4000" b="1">
                <a:solidFill>
                  <a:srgbClr val="14263F"/>
                </a:solidFill>
                <a:latin typeface="Arial"/>
              </a:rPr>
              <a:t>Design for real tasks.
Validate with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