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467" r:id="rId218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Task success / 5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Baseline</c:v>
                </c:pt>
                <c:pt idx="1">
                  <c:v>Revision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</c:v>
                </c:pt>
                <c:pt idx="1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Critical errors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Baseline</c:v>
                </c:pt>
                <c:pt idx="1">
                  <c:v>Revision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</c:v>
                </c:pt>
                <c:pt idx="1">
                  <c:v>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-hero-v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82880"/>
            <a:ext cx="7662672" cy="63093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rtiary-infotech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502920"/>
            <a:ext cx="640080" cy="640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691640"/>
            <a:ext cx="4480560" cy="5029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800" b="1">
                <a:solidFill>
                  <a:srgbClr val="1B5BA9"/>
                </a:solidFill>
                <a:latin typeface="Arial"/>
              </a:rPr>
              <a:t>WSQ COURSE SLIDES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4663440" cy="21031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3400" b="1">
                <a:solidFill>
                  <a:srgbClr val="14263F"/>
                </a:solidFill>
                <a:latin typeface="Arial"/>
              </a:rPr>
              <a:t>Mastering UI Design Techniques for Web and Mobile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09160"/>
            <a:ext cx="4937760" cy="384048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900" b="1">
                <a:solidFill>
                  <a:srgbClr val="00918B"/>
                </a:solidFill>
                <a:latin typeface="Arial"/>
              </a:rPr>
              <a:t> TGS-2021010046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257800"/>
            <a:ext cx="49377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0">
                <a:solidFill>
                  <a:srgbClr val="556574"/>
                </a:solidFill>
                <a:latin typeface="Arial"/>
              </a:rPr>
              <a:t>v12 · 14 September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06440"/>
            <a:ext cx="5029200" cy="5029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200" b="0">
                <a:solidFill>
                  <a:srgbClr val="556574"/>
                </a:solidFill>
                <a:latin typeface="Arial"/>
              </a:rPr>
              <a:t>Tertiary Infotech Academy Pte Ltd
UEN 201200696W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COURSE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Learning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LO1 · Identify user needs and information flows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LO2 · Develop UI prototype components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LO3 · Design and validate interfaces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LO4 · Document and export the design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ICT-DES-3008-1.1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TSC evidence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K1–K3 · explain mechanisms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A1–A2 · needs and flow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A3–A5 · prototype and validation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A6–A7 · document and guide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WA + PRACTICAL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Assessment briefing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5303520" cy="3566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37360"/>
            <a:ext cx="73152" cy="3566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83664"/>
            <a:ext cx="493775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Written · 60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95728"/>
            <a:ext cx="493775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Open-ended questions test K1–K3. Use approved course materials; write in your own words.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3794760"/>
            <a:ext cx="486460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3977640"/>
            <a:ext cx="1909267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233672"/>
            <a:ext cx="3606393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4453128"/>
            <a:ext cx="2916936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74920" y="46360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737360"/>
            <a:ext cx="5303520" cy="3566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1737360"/>
            <a:ext cx="73152" cy="3566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1883664"/>
            <a:ext cx="493775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Practical · 90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2395728"/>
            <a:ext cx="493775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Produce a UI flow, prototype, validation record and handoff evidence mapped to A1–A7.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37376" y="3794760"/>
            <a:ext cx="486460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38544" y="3977640"/>
            <a:ext cx="1909267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638544" y="4233672"/>
            <a:ext cx="3606393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38544" y="4453128"/>
            <a:ext cx="2916936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652760" y="4636008"/>
            <a:ext cx="566928" cy="21031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LEARNER ACCESS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Course material on LMS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5303520" cy="4023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37360"/>
            <a:ext cx="73152" cy="40233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83664"/>
            <a:ext cx="493775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Course workspace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95728"/>
            <a:ext cx="493775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lms-tms.tertiaryinfotech.com · TGS-2021010046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251960"/>
            <a:ext cx="486460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434840"/>
            <a:ext cx="1909267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690872"/>
            <a:ext cx="3606393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4910328"/>
            <a:ext cx="2916936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74920" y="50932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737360"/>
            <a:ext cx="5303520" cy="4023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1737360"/>
            <a:ext cx="73152" cy="40233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1883664"/>
            <a:ext cx="493775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Courseware library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2395728"/>
            <a:ext cx="493775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Slides PDF · Learner Guide · Lesson Plan · six lab folders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37376" y="4251960"/>
            <a:ext cx="486460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38544" y="4434840"/>
            <a:ext cx="1909267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638544" y="4690872"/>
            <a:ext cx="3606393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38544" y="4910328"/>
            <a:ext cx="2916936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652760" y="5093208"/>
            <a:ext cx="566928" cy="21031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Trainer profile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5120640" cy="41148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37360"/>
            <a:ext cx="73152" cy="41148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8366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Trainer name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9572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Professional role, industry projects and teaching credentials to be completed by assigned trainer.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34340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52628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78231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00176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18464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1737360"/>
            <a:ext cx="5394960" cy="41148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35040" y="1737360"/>
            <a:ext cx="73152" cy="411480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6207" y="1883664"/>
            <a:ext cx="50292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Contact &amp; consultation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7" y="2395728"/>
            <a:ext cx="50292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Introduce your relevant UI work, portfolio examples and support channel.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54496" y="4343400"/>
            <a:ext cx="49560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55664" y="4526280"/>
            <a:ext cx="1942185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55664" y="4782312"/>
            <a:ext cx="366857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55664" y="5001768"/>
            <a:ext cx="296722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61320" y="5184648"/>
            <a:ext cx="566928" cy="21031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Dr Alfred 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5120640" cy="41148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37360"/>
            <a:ext cx="73152" cy="41148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8366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Course developer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9572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Dr Alfred Ang · courseware development and technical education.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34340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52628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78231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00176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18464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1737360"/>
            <a:ext cx="5394960" cy="41148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35040" y="1737360"/>
            <a:ext cx="73152" cy="411480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6207" y="1883664"/>
            <a:ext cx="50292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Evidence in this course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7" y="2395728"/>
            <a:ext cx="50292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Scenario briefs, prototypes, design systems, validation logs and handoff artifacts.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54496" y="4343400"/>
            <a:ext cx="49560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55664" y="4526280"/>
            <a:ext cx="1942185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55664" y="4782312"/>
            <a:ext cx="366857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55664" y="5001768"/>
            <a:ext cx="296722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61320" y="5184648"/>
            <a:ext cx="566928" cy="21031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User needs ·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519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Scenario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A clinic patient must reschedule in under 45 seconds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3484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1772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87375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093207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27608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1691640"/>
            <a:ext cx="5394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35040" y="1691640"/>
            <a:ext cx="73152" cy="42519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6207" y="1837944"/>
            <a:ext cx="50292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Design decision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7" y="2350008"/>
            <a:ext cx="50292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Expose Reschedule beside appointment details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54496" y="4434840"/>
            <a:ext cx="49560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55664" y="4617720"/>
            <a:ext cx="1942185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55664" y="4873752"/>
            <a:ext cx="366857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55664" y="5093207"/>
            <a:ext cx="296722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61320" y="5276088"/>
            <a:ext cx="566928" cy="21031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User needs · Artifact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384048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347472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Working artifact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347472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booking cancellation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340156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382572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2611526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112264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1188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737360"/>
            <a:ext cx="6537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02352" y="1965960"/>
            <a:ext cx="6035040" cy="41148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0" y="2039112"/>
            <a:ext cx="512064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rial"/>
              </a:rPr>
              <a:t>Booking Cancellation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12080" y="2697480"/>
            <a:ext cx="20574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79792" y="2697480"/>
            <a:ext cx="333756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13248" y="2953512"/>
            <a:ext cx="16459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13248" y="3264408"/>
            <a:ext cx="1325880" cy="100584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99248" y="2953512"/>
            <a:ext cx="237744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99248" y="3337560"/>
            <a:ext cx="26060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99248" y="3630168"/>
            <a:ext cx="201168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99248" y="4297680"/>
            <a:ext cx="1508760" cy="39319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0" y="5349240"/>
            <a:ext cx="576072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200" b="0">
                <a:solidFill>
                  <a:srgbClr val="14263F"/>
                </a:solidFill>
                <a:latin typeface="Arial"/>
              </a:rPr>
              <a:t>Expose Reschedule beside appointment details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User needs · Flow /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A clinic patient must reschedule in under 45 seconds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booking cancellation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Expose Reschedule beside appointment details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Review evidence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User needs · Design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663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2976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2976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Expose Reschedule beside appointment details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2245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78838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171139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56489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15000" y="2011680"/>
            <a:ext cx="5532120" cy="9144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221992"/>
            <a:ext cx="512064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0">
                <a:solidFill>
                  <a:srgbClr val="14263F"/>
                </a:solidFill>
                <a:latin typeface="Arial"/>
              </a:rPr>
              <a:t>A clinic patient must reschedule in under 45 seconds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3063240"/>
            <a:ext cx="109728" cy="6400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0" y="3749039"/>
            <a:ext cx="5532120" cy="11430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023360"/>
            <a:ext cx="5120640" cy="640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1">
                <a:solidFill>
                  <a:srgbClr val="1B5BA9"/>
                </a:solidFill>
                <a:latin typeface="Arial"/>
              </a:rPr>
              <a:t>Inspect the booking cancellation against the rule.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User needs · Responsive or print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607040" cy="5029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800" b="1">
                <a:solidFill>
                  <a:srgbClr val="14263F"/>
                </a:solidFill>
                <a:latin typeface="Arial"/>
              </a:rPr>
              <a:t>Inspect the booking cancellation across required formats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423160"/>
            <a:ext cx="53949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560320"/>
            <a:ext cx="51389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3063240"/>
            <a:ext cx="50292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3383280"/>
            <a:ext cx="48006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3657600"/>
            <a:ext cx="46634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486400"/>
            <a:ext cx="53949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DESKTOP / FULL SHEET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423160"/>
            <a:ext cx="292608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28816" y="2560320"/>
            <a:ext cx="267004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0" y="3063240"/>
            <a:ext cx="25603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0" y="3383280"/>
            <a:ext cx="233172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0" y="3657600"/>
            <a:ext cx="219456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486400"/>
            <a:ext cx="292608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TABLET / FOLDED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0" y="2423160"/>
            <a:ext cx="17373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29216" y="2560320"/>
            <a:ext cx="14813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84080" y="3063240"/>
            <a:ext cx="13716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84080" y="3383280"/>
            <a:ext cx="11430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0" y="3657600"/>
            <a:ext cx="1005839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7840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5486400"/>
            <a:ext cx="17373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MOBILE / PANEL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User needs · Accessibility / 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48056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1148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Quality criterion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1148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Verify labels, contrast, focus or print legibility for the target audience.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0416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13001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046780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46430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6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77840" y="1691640"/>
            <a:ext cx="5806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011680"/>
            <a:ext cx="502920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CHECK → RECORD → REVISE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2788920"/>
            <a:ext cx="384048" cy="3840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788920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Readable content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3538727"/>
            <a:ext cx="384048" cy="384048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3538727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Clear action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89320" y="4288536"/>
            <a:ext cx="384048" cy="384048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88536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Recovery 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5349240"/>
            <a:ext cx="502920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300" b="0">
                <a:solidFill>
                  <a:srgbClr val="14263F"/>
                </a:solidFill>
                <a:latin typeface="Arial"/>
              </a:rPr>
              <a:t>Capture booking cancellation as evidence.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User needs · Failure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F2A83A"/>
                </a:solidFill>
                <a:latin typeface="Arial"/>
              </a:rPr>
              <a:t>Observed defect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Hiding the control in account settings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321808"/>
            <a:ext cx="566928" cy="210312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Revised 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Expose Reschedule beside appointment details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59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471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471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471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3784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24728" y="3200400"/>
            <a:ext cx="320040" cy="54864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3000" b="1">
                <a:solidFill>
                  <a:srgbClr val="1B5BA9"/>
                </a:solidFill>
                <a:latin typeface="Arial"/>
              </a:rPr>
              <a:t>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User needs · Evidence to retain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Save initial booking cancellation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Change: Expose Reschedule beside appointment details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Retest same task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Keep export + evidence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Research evidence ·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519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Scenario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Five patients describe a cancellation path; three expect a calendar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3484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1772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87375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093207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27608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1691640"/>
            <a:ext cx="5394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35040" y="1691640"/>
            <a:ext cx="73152" cy="42519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6207" y="1837944"/>
            <a:ext cx="50292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Design decision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7" y="2350008"/>
            <a:ext cx="50292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Map the observed intent before drawing screens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54496" y="4434840"/>
            <a:ext cx="49560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55664" y="4617720"/>
            <a:ext cx="1942185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55664" y="4873752"/>
            <a:ext cx="366857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55664" y="5093207"/>
            <a:ext cx="296722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61320" y="5276088"/>
            <a:ext cx="566928" cy="21031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Research evidence · Artifact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384048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347472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Working artifact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347472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task interview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340156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382572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2611526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112264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1188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737360"/>
            <a:ext cx="6537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02352" y="1965960"/>
            <a:ext cx="6035040" cy="41148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0" y="2039112"/>
            <a:ext cx="512064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rial"/>
              </a:rPr>
              <a:t>Task Interview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12080" y="2697480"/>
            <a:ext cx="20574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79792" y="2697480"/>
            <a:ext cx="333756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13248" y="2953512"/>
            <a:ext cx="16459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13248" y="3264408"/>
            <a:ext cx="1325880" cy="100584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99248" y="2953512"/>
            <a:ext cx="237744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99248" y="3337560"/>
            <a:ext cx="26060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99248" y="3630168"/>
            <a:ext cx="201168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99248" y="4297680"/>
            <a:ext cx="1508760" cy="39319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0" y="5349240"/>
            <a:ext cx="576072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200" b="0">
                <a:solidFill>
                  <a:srgbClr val="14263F"/>
                </a:solidFill>
                <a:latin typeface="Arial"/>
              </a:rPr>
              <a:t>Map the observed intent before drawing screens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Research evidence · Flow /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19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Five patients describe a cancellation path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task interview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Map the observed intent before drawing screens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Review evidence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Research evidence · Design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663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2976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2976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Map the observed intent before drawing screens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2245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78838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171139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56489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15000" y="2011680"/>
            <a:ext cx="5532120" cy="9144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221992"/>
            <a:ext cx="512064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0">
                <a:solidFill>
                  <a:srgbClr val="14263F"/>
                </a:solidFill>
                <a:latin typeface="Arial"/>
              </a:rPr>
              <a:t>Five patients describe a cancellation path; three expect a calendar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3063240"/>
            <a:ext cx="109728" cy="6400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0" y="3749039"/>
            <a:ext cx="5532120" cy="11430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023360"/>
            <a:ext cx="5120640" cy="640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1">
                <a:solidFill>
                  <a:srgbClr val="1B5BA9"/>
                </a:solidFill>
                <a:latin typeface="Arial"/>
              </a:rPr>
              <a:t>Inspect the task interview against the rule.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Research evidence · Responsive or print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607040" cy="5029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800" b="1">
                <a:solidFill>
                  <a:srgbClr val="14263F"/>
                </a:solidFill>
                <a:latin typeface="Arial"/>
              </a:rPr>
              <a:t>Inspect the task interview across required formats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423160"/>
            <a:ext cx="53949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560320"/>
            <a:ext cx="51389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3063240"/>
            <a:ext cx="50292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3383280"/>
            <a:ext cx="48006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3657600"/>
            <a:ext cx="46634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486400"/>
            <a:ext cx="53949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DESKTOP / FULL SHEET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423160"/>
            <a:ext cx="292608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28816" y="2560320"/>
            <a:ext cx="267004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0" y="3063240"/>
            <a:ext cx="25603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0" y="3383280"/>
            <a:ext cx="233172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0" y="3657600"/>
            <a:ext cx="219456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486400"/>
            <a:ext cx="292608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TABLET / FOLDED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0" y="2423160"/>
            <a:ext cx="17373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29216" y="2560320"/>
            <a:ext cx="14813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84080" y="3063240"/>
            <a:ext cx="13716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84080" y="3383280"/>
            <a:ext cx="11430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0" y="3657600"/>
            <a:ext cx="1005839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7840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5486400"/>
            <a:ext cx="17373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MOBILE / PANEL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Research evidence · Accessibility / 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22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48056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1148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Quality criterion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1148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Verify labels, contrast, focus or print legibility for the target audience.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0416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13001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046780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46430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6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77840" y="1691640"/>
            <a:ext cx="5806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011680"/>
            <a:ext cx="502920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CHECK → RECORD → REVISE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2788920"/>
            <a:ext cx="384048" cy="3840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788920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Readable content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3538727"/>
            <a:ext cx="384048" cy="384048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3538727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Clear action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89320" y="4288536"/>
            <a:ext cx="384048" cy="384048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88536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Recovery 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5349240"/>
            <a:ext cx="502920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300" b="0">
                <a:solidFill>
                  <a:srgbClr val="14263F"/>
                </a:solidFill>
                <a:latin typeface="Arial"/>
              </a:rPr>
              <a:t>Capture task interview as evidence.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Research evidence · Failure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23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F2A83A"/>
                </a:solidFill>
                <a:latin typeface="Arial"/>
              </a:rPr>
              <a:t>Observed defect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Treating a designer assumption as evidence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321808"/>
            <a:ext cx="566928" cy="210312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Revised 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Map the observed intent before drawing screens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59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471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471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471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3784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24728" y="3200400"/>
            <a:ext cx="320040" cy="54864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3000" b="1">
                <a:solidFill>
                  <a:srgbClr val="1B5BA9"/>
                </a:solidFill>
                <a:latin typeface="Arial"/>
              </a:rPr>
              <a:t>›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Research evidence · Evidence to retain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24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Save initial task interview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Change: Map the observed intent before drawing screens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Retest same task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Keep export + evidence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Persona constraint ·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25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519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Scenario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A 52-year-old patient uses 200% text on a train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3484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1772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87375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093207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27608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1691640"/>
            <a:ext cx="5394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35040" y="1691640"/>
            <a:ext cx="73152" cy="42519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6207" y="1837944"/>
            <a:ext cx="50292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Design decision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7" y="2350008"/>
            <a:ext cx="50292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Keep labels and actions legible at zoom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54496" y="4434840"/>
            <a:ext cx="49560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55664" y="4617720"/>
            <a:ext cx="1942185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55664" y="4873752"/>
            <a:ext cx="366857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55664" y="5093207"/>
            <a:ext cx="296722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61320" y="5276088"/>
            <a:ext cx="566928" cy="21031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Persona constraint · Artifact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26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384048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347472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Working artifact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347472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low-vision commuter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340156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382572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2611526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112264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1188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737360"/>
            <a:ext cx="6537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02352" y="1965960"/>
            <a:ext cx="6035040" cy="41148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0" y="2039112"/>
            <a:ext cx="512064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rial"/>
              </a:rPr>
              <a:t>Low-Vision Commuter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12080" y="2697480"/>
            <a:ext cx="20574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79792" y="2697480"/>
            <a:ext cx="333756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13248" y="2953512"/>
            <a:ext cx="16459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13248" y="3264408"/>
            <a:ext cx="1325880" cy="100584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99248" y="2953512"/>
            <a:ext cx="237744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99248" y="3337560"/>
            <a:ext cx="26060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99248" y="3630168"/>
            <a:ext cx="201168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99248" y="4297680"/>
            <a:ext cx="1508760" cy="39319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0" y="5349240"/>
            <a:ext cx="576072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200" b="0">
                <a:solidFill>
                  <a:srgbClr val="14263F"/>
                </a:solidFill>
                <a:latin typeface="Arial"/>
              </a:rPr>
              <a:t>Keep labels and actions legible at zoom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Persona constraint · Flow /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27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A 52-year-old patient uses 200% text on a train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low-vision commuter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Keep labels and actions legible at zoom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Review evidence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Persona constraint · Design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28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663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2976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2976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Keep labels and actions legible at zoom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2245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78838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171139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56489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15000" y="2011680"/>
            <a:ext cx="5532120" cy="9144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221992"/>
            <a:ext cx="512064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0">
                <a:solidFill>
                  <a:srgbClr val="14263F"/>
                </a:solidFill>
                <a:latin typeface="Arial"/>
              </a:rPr>
              <a:t>A 52-year-old patient uses 200% text on a train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3063240"/>
            <a:ext cx="109728" cy="6400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0" y="3749039"/>
            <a:ext cx="5532120" cy="11430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023360"/>
            <a:ext cx="5120640" cy="640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1">
                <a:solidFill>
                  <a:srgbClr val="1B5BA9"/>
                </a:solidFill>
                <a:latin typeface="Arial"/>
              </a:rPr>
              <a:t>Inspect the low-vision commuter against the rule.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Persona constraint · Responsive or print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607040" cy="5029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800" b="1">
                <a:solidFill>
                  <a:srgbClr val="14263F"/>
                </a:solidFill>
                <a:latin typeface="Arial"/>
              </a:rPr>
              <a:t>Inspect the low-vision commuter across required formats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423160"/>
            <a:ext cx="53949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560320"/>
            <a:ext cx="51389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3063240"/>
            <a:ext cx="50292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3383280"/>
            <a:ext cx="48006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3657600"/>
            <a:ext cx="46634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486400"/>
            <a:ext cx="53949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DESKTOP / FULL SHEET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423160"/>
            <a:ext cx="292608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28816" y="2560320"/>
            <a:ext cx="267004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0" y="3063240"/>
            <a:ext cx="25603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0" y="3383280"/>
            <a:ext cx="233172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0" y="3657600"/>
            <a:ext cx="219456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486400"/>
            <a:ext cx="292608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TABLET / FOLDED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0" y="2423160"/>
            <a:ext cx="17373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29216" y="2560320"/>
            <a:ext cx="14813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84080" y="3063240"/>
            <a:ext cx="13716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84080" y="3383280"/>
            <a:ext cx="11430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0" y="3657600"/>
            <a:ext cx="1005839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7840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5486400"/>
            <a:ext cx="17373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MOBILE / PANEL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Persona constraint · Accessibility / 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30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48056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1148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Quality criterion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1148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Verify labels, contrast, focus or print legibility for the target audience.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0416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13001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046780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46430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6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77840" y="1691640"/>
            <a:ext cx="5806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011680"/>
            <a:ext cx="502920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CHECK → RECORD → REVISE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2788920"/>
            <a:ext cx="384048" cy="3840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788920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Readable content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3538727"/>
            <a:ext cx="384048" cy="384048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3538727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Clear action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89320" y="4288536"/>
            <a:ext cx="384048" cy="384048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88536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Recovery 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5349240"/>
            <a:ext cx="502920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300" b="0">
                <a:solidFill>
                  <a:srgbClr val="14263F"/>
                </a:solidFill>
                <a:latin typeface="Arial"/>
              </a:rPr>
              <a:t>Capture low-vision commuter as evidence.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Persona constraint · Failure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31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F2A83A"/>
                </a:solidFill>
                <a:latin typeface="Arial"/>
              </a:rPr>
              <a:t>Observed defect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Using tiny icon-only actions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321808"/>
            <a:ext cx="566928" cy="210312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Revised 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Keep labels and actions legible at zoom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59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471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471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471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3784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24728" y="3200400"/>
            <a:ext cx="320040" cy="54864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3000" b="1">
                <a:solidFill>
                  <a:srgbClr val="1B5BA9"/>
                </a:solidFill>
                <a:latin typeface="Arial"/>
              </a:rPr>
              <a:t>›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Persona constraint · Evidence to retain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32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Save initial low-vision commuter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Change: Keep labels and actions legible at zoom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Retest same task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Keep export + evidence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Journey mapping ·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33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519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Scenario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A slot disappears between search and confirmation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3484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1772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87375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093207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27608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1691640"/>
            <a:ext cx="5394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35040" y="1691640"/>
            <a:ext cx="73152" cy="42519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6207" y="1837944"/>
            <a:ext cx="50292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Design decision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7" y="2350008"/>
            <a:ext cx="50292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Return to available slots with criteria retained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54496" y="4434840"/>
            <a:ext cx="49560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55664" y="4617720"/>
            <a:ext cx="1942185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55664" y="4873752"/>
            <a:ext cx="366857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55664" y="5093207"/>
            <a:ext cx="296722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61320" y="5276088"/>
            <a:ext cx="566928" cy="21031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Journey mapping · Artifact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34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384048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347472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Working artifact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347472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failed-slot recovery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340156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382572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2611526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112264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1188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737360"/>
            <a:ext cx="6537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02352" y="1965960"/>
            <a:ext cx="6035040" cy="41148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0" y="2039112"/>
            <a:ext cx="512064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rial"/>
              </a:rPr>
              <a:t>Failed-Slot Recovery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12080" y="2697480"/>
            <a:ext cx="20574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79792" y="2697480"/>
            <a:ext cx="333756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13248" y="2953512"/>
            <a:ext cx="16459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13248" y="3264408"/>
            <a:ext cx="1325880" cy="100584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99248" y="2953512"/>
            <a:ext cx="237744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99248" y="3337560"/>
            <a:ext cx="26060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99248" y="3630168"/>
            <a:ext cx="201168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99248" y="4297680"/>
            <a:ext cx="1508760" cy="39319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0" y="5349240"/>
            <a:ext cx="576072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200" b="0">
                <a:solidFill>
                  <a:srgbClr val="14263F"/>
                </a:solidFill>
                <a:latin typeface="Arial"/>
              </a:rPr>
              <a:t>Return to available slots with criteria retained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Journey mapping · Flow /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35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A slot disappears between search and confirmation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failed-slot recovery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Return to available slots with criteria retained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Review evidence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Journey mapping · Design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36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663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2976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2976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Return to available slots with criteria retained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2245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78838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171139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56489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15000" y="2011680"/>
            <a:ext cx="5532120" cy="9144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221992"/>
            <a:ext cx="512064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0">
                <a:solidFill>
                  <a:srgbClr val="14263F"/>
                </a:solidFill>
                <a:latin typeface="Arial"/>
              </a:rPr>
              <a:t>A slot disappears between search and confirmation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3063240"/>
            <a:ext cx="109728" cy="6400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0" y="3749039"/>
            <a:ext cx="5532120" cy="11430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023360"/>
            <a:ext cx="5120640" cy="640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1">
                <a:solidFill>
                  <a:srgbClr val="1B5BA9"/>
                </a:solidFill>
                <a:latin typeface="Arial"/>
              </a:rPr>
              <a:t>Inspect the failed-slot recovery against the rule.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Journey mapping · Responsive or print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607040" cy="5029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800" b="1">
                <a:solidFill>
                  <a:srgbClr val="14263F"/>
                </a:solidFill>
                <a:latin typeface="Arial"/>
              </a:rPr>
              <a:t>Inspect the failed-slot recovery across required formats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423160"/>
            <a:ext cx="53949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560320"/>
            <a:ext cx="51389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3063240"/>
            <a:ext cx="50292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3383280"/>
            <a:ext cx="48006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3657600"/>
            <a:ext cx="46634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486400"/>
            <a:ext cx="53949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DESKTOP / FULL SHEET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423160"/>
            <a:ext cx="292608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28816" y="2560320"/>
            <a:ext cx="267004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0" y="3063240"/>
            <a:ext cx="25603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0" y="3383280"/>
            <a:ext cx="233172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0" y="3657600"/>
            <a:ext cx="219456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486400"/>
            <a:ext cx="292608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TABLET / FOLDED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0" y="2423160"/>
            <a:ext cx="17373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29216" y="2560320"/>
            <a:ext cx="14813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84080" y="3063240"/>
            <a:ext cx="13716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84080" y="3383280"/>
            <a:ext cx="11430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0" y="3657600"/>
            <a:ext cx="1005839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7840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5486400"/>
            <a:ext cx="17373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MOBILE / PANEL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Journey mapping · Accessibility / 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38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48056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1148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Quality criterion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1148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Verify labels, contrast, focus or print legibility for the target audience.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0416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13001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046780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46430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6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77840" y="1691640"/>
            <a:ext cx="5806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011680"/>
            <a:ext cx="502920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CHECK → RECORD → REVISE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2788920"/>
            <a:ext cx="384048" cy="3840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788920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Readable content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3538727"/>
            <a:ext cx="384048" cy="384048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3538727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Clear action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89320" y="4288536"/>
            <a:ext cx="384048" cy="384048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88536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Recovery 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5349240"/>
            <a:ext cx="502920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300" b="0">
                <a:solidFill>
                  <a:srgbClr val="14263F"/>
                </a:solidFill>
                <a:latin typeface="Arial"/>
              </a:rPr>
              <a:t>Capture failed-slot recovery as evidence.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Journey mapping · Failure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39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F2A83A"/>
                </a:solidFill>
                <a:latin typeface="Arial"/>
              </a:rPr>
              <a:t>Observed defect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Resetting search and losing intent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321808"/>
            <a:ext cx="566928" cy="210312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Revised 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Return to available slots with criteria retained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59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471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471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471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3784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24728" y="3200400"/>
            <a:ext cx="320040" cy="54864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3000" b="1">
                <a:solidFill>
                  <a:srgbClr val="1B5BA9"/>
                </a:solidFill>
                <a:latin typeface="Arial"/>
              </a:rPr>
              <a:t>›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Journey mapping · Evidence to retain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40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Save initial failed-slot recovery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Change: Return to available slots with criteria retained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Retest same task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Keep export + evidence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Information architecture ·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41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519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Scenario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Appointments, care teams and account are separate objects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3484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1772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87375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093207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27608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1691640"/>
            <a:ext cx="5394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35040" y="1691640"/>
            <a:ext cx="73152" cy="42519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6207" y="1837944"/>
            <a:ext cx="50292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Design decision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7" y="2350008"/>
            <a:ext cx="50292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Use task-based primary navigation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54496" y="4434840"/>
            <a:ext cx="49560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55664" y="4617720"/>
            <a:ext cx="1942185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55664" y="4873752"/>
            <a:ext cx="366857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55664" y="5093207"/>
            <a:ext cx="296722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61320" y="5276088"/>
            <a:ext cx="566928" cy="21031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Information architecture · Artifact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42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384048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347472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Working artifact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347472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clinic navigation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340156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382572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2611526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112264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1188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737360"/>
            <a:ext cx="6537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02352" y="1965960"/>
            <a:ext cx="6035040" cy="41148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0" y="2039112"/>
            <a:ext cx="512064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rial"/>
              </a:rPr>
              <a:t>Clinic Navigation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12080" y="2697480"/>
            <a:ext cx="20574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79792" y="2697480"/>
            <a:ext cx="333756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13248" y="2953512"/>
            <a:ext cx="16459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13248" y="3264408"/>
            <a:ext cx="1325880" cy="100584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99248" y="2953512"/>
            <a:ext cx="237744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99248" y="3337560"/>
            <a:ext cx="26060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99248" y="3630168"/>
            <a:ext cx="201168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99248" y="4297680"/>
            <a:ext cx="1508760" cy="39319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0" y="5349240"/>
            <a:ext cx="576072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200" b="0">
                <a:solidFill>
                  <a:srgbClr val="14263F"/>
                </a:solidFill>
                <a:latin typeface="Arial"/>
              </a:rPr>
              <a:t>Use task-based primary navigation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Information architecture · Flow /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43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Appointments, care teams and account are separate objects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clinic navigation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Use task-based primary navigation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Review evidence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Information architecture · Design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44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663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2976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2976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Use task-based primary navigation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2245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78838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171139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56489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15000" y="2011680"/>
            <a:ext cx="5532120" cy="9144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221992"/>
            <a:ext cx="512064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0">
                <a:solidFill>
                  <a:srgbClr val="14263F"/>
                </a:solidFill>
                <a:latin typeface="Arial"/>
              </a:rPr>
              <a:t>Appointments, care teams and account are separate objects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3063240"/>
            <a:ext cx="109728" cy="6400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0" y="3749039"/>
            <a:ext cx="5532120" cy="11430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023360"/>
            <a:ext cx="5120640" cy="640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1">
                <a:solidFill>
                  <a:srgbClr val="1B5BA9"/>
                </a:solidFill>
                <a:latin typeface="Arial"/>
              </a:rPr>
              <a:t>Inspect the clinic navigation against the rule.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Information architecture · Responsive or print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607040" cy="5029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800" b="1">
                <a:solidFill>
                  <a:srgbClr val="14263F"/>
                </a:solidFill>
                <a:latin typeface="Arial"/>
              </a:rPr>
              <a:t>Inspect the clinic navigation across required formats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423160"/>
            <a:ext cx="53949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560320"/>
            <a:ext cx="51389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3063240"/>
            <a:ext cx="50292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3383280"/>
            <a:ext cx="48006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3657600"/>
            <a:ext cx="46634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486400"/>
            <a:ext cx="53949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DESKTOP / FULL SHEET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423160"/>
            <a:ext cx="292608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28816" y="2560320"/>
            <a:ext cx="267004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0" y="3063240"/>
            <a:ext cx="25603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0" y="3383280"/>
            <a:ext cx="233172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0" y="3657600"/>
            <a:ext cx="219456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486400"/>
            <a:ext cx="292608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TABLET / FOLDED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0" y="2423160"/>
            <a:ext cx="17373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29216" y="2560320"/>
            <a:ext cx="14813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84080" y="3063240"/>
            <a:ext cx="13716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84080" y="3383280"/>
            <a:ext cx="11430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0" y="3657600"/>
            <a:ext cx="1005839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7840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5486400"/>
            <a:ext cx="17373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MOBILE / PANEL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Information architecture · Accessibility / 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46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48056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1148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Quality criterion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1148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Verify labels, contrast, focus or print legibility for the target audience.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0416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13001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046780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46430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6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77840" y="1691640"/>
            <a:ext cx="5806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011680"/>
            <a:ext cx="502920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CHECK → RECORD → REVISE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2788920"/>
            <a:ext cx="384048" cy="3840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788920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Readable content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3538727"/>
            <a:ext cx="384048" cy="384048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3538727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Clear action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89320" y="4288536"/>
            <a:ext cx="384048" cy="384048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88536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Recovery 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5349240"/>
            <a:ext cx="502920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300" b="0">
                <a:solidFill>
                  <a:srgbClr val="14263F"/>
                </a:solidFill>
                <a:latin typeface="Arial"/>
              </a:rPr>
              <a:t>Capture clinic navigation as evidence.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Information architecture · Failure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47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F2A83A"/>
                </a:solidFill>
                <a:latin typeface="Arial"/>
              </a:rPr>
              <a:t>Observed defect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Organising menus by internal department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321808"/>
            <a:ext cx="566928" cy="210312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Revised 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Use task-based primary navigation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59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471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471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471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3784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24728" y="3200400"/>
            <a:ext cx="320040" cy="54864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3000" b="1">
                <a:solidFill>
                  <a:srgbClr val="1B5BA9"/>
                </a:solidFill>
                <a:latin typeface="Arial"/>
              </a:rPr>
              <a:t>›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Information architecture · Evidence to retain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48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Save initial clinic navigation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Change: Use task-based primary navigation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Retest same task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Keep export + evidence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Information flow ·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49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519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Scenario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Search → select → verify → confirm → receipt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3484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1772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87375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093207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27608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1691640"/>
            <a:ext cx="5394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35040" y="1691640"/>
            <a:ext cx="73152" cy="42519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6207" y="1837944"/>
            <a:ext cx="50292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Design decision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7" y="2350008"/>
            <a:ext cx="50292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Track state and data at each transition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54496" y="4434840"/>
            <a:ext cx="49560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55664" y="4617720"/>
            <a:ext cx="1942185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55664" y="4873752"/>
            <a:ext cx="366857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55664" y="5093207"/>
            <a:ext cx="296722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61320" y="5276088"/>
            <a:ext cx="566928" cy="21031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Information flow · Artifact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50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384048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347472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Working artifact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347472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booking state graph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340156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382572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2611526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112264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1188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737360"/>
            <a:ext cx="6537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02352" y="1965960"/>
            <a:ext cx="6035040" cy="41148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0" y="2039112"/>
            <a:ext cx="512064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rial"/>
              </a:rPr>
              <a:t>Booking State Graph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12080" y="2697480"/>
            <a:ext cx="20574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79792" y="2697480"/>
            <a:ext cx="333756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13248" y="2953512"/>
            <a:ext cx="16459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13248" y="3264408"/>
            <a:ext cx="1325880" cy="100584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99248" y="2953512"/>
            <a:ext cx="237744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99248" y="3337560"/>
            <a:ext cx="26060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99248" y="3630168"/>
            <a:ext cx="201168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99248" y="4297680"/>
            <a:ext cx="1508760" cy="39319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0" y="5349240"/>
            <a:ext cx="576072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200" b="0">
                <a:solidFill>
                  <a:srgbClr val="14263F"/>
                </a:solidFill>
                <a:latin typeface="Arial"/>
              </a:rPr>
              <a:t>Track state and data at each transition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Information flow · Flow /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51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Search → select → verify → confirm → receipt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booking state graph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Track state and data at each transition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Review evidence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Information flow · Design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52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663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2976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2976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Track state and data at each transition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2245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78838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171139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56489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15000" y="2011680"/>
            <a:ext cx="5532120" cy="9144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221992"/>
            <a:ext cx="512064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0">
                <a:solidFill>
                  <a:srgbClr val="14263F"/>
                </a:solidFill>
                <a:latin typeface="Arial"/>
              </a:rPr>
              <a:t>Search → select → verify → confirm → receipt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3063240"/>
            <a:ext cx="109728" cy="6400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0" y="3749039"/>
            <a:ext cx="5532120" cy="11430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023360"/>
            <a:ext cx="5120640" cy="640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1">
                <a:solidFill>
                  <a:srgbClr val="1B5BA9"/>
                </a:solidFill>
                <a:latin typeface="Arial"/>
              </a:rPr>
              <a:t>Inspect the booking state graph against the rule.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Information flow · Responsive or print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607040" cy="5029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800" b="1">
                <a:solidFill>
                  <a:srgbClr val="14263F"/>
                </a:solidFill>
                <a:latin typeface="Arial"/>
              </a:rPr>
              <a:t>Inspect the booking state graph across required formats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423160"/>
            <a:ext cx="53949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560320"/>
            <a:ext cx="51389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3063240"/>
            <a:ext cx="50292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3383280"/>
            <a:ext cx="48006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3657600"/>
            <a:ext cx="46634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486400"/>
            <a:ext cx="53949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DESKTOP / FULL SHEET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423160"/>
            <a:ext cx="292608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28816" y="2560320"/>
            <a:ext cx="267004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0" y="3063240"/>
            <a:ext cx="25603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0" y="3383280"/>
            <a:ext cx="233172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0" y="3657600"/>
            <a:ext cx="219456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486400"/>
            <a:ext cx="292608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TABLET / FOLDED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0" y="2423160"/>
            <a:ext cx="17373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29216" y="2560320"/>
            <a:ext cx="14813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84080" y="3063240"/>
            <a:ext cx="13716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84080" y="3383280"/>
            <a:ext cx="11430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0" y="3657600"/>
            <a:ext cx="1005839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7840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5486400"/>
            <a:ext cx="17373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MOBILE / PANEL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Information flow · Accessibility / 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54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48056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1148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Quality criterion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1148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Verify labels, contrast, focus or print legibility for the target audience.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0416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13001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046780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46430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6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77840" y="1691640"/>
            <a:ext cx="5806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011680"/>
            <a:ext cx="502920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CHECK → RECORD → REVISE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2788920"/>
            <a:ext cx="384048" cy="3840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788920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Readable content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3538727"/>
            <a:ext cx="384048" cy="384048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3538727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Clear action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89320" y="4288536"/>
            <a:ext cx="384048" cy="384048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88536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Recovery 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5349240"/>
            <a:ext cx="502920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300" b="0">
                <a:solidFill>
                  <a:srgbClr val="14263F"/>
                </a:solidFill>
                <a:latin typeface="Arial"/>
              </a:rPr>
              <a:t>Capture booking state graph as evidence.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Information flow · Failure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55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F2A83A"/>
                </a:solidFill>
                <a:latin typeface="Arial"/>
              </a:rPr>
              <a:t>Observed defect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No route back from verification error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321808"/>
            <a:ext cx="566928" cy="210312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Revised 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Track state and data at each transition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59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471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471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471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3784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24728" y="3200400"/>
            <a:ext cx="320040" cy="54864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3000" b="1">
                <a:solidFill>
                  <a:srgbClr val="1B5BA9"/>
                </a:solidFill>
                <a:latin typeface="Arial"/>
              </a:rPr>
              <a:t>›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1 / LAB 01 /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Information flow · Evidence to retain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56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Save initial booking state graph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Change: Track state and data at each transition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Retest same task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Keep export + evidence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01 /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Wireframe fidelity ·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57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519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Scenario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Header, appointment card and primary action must fit 390 px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3484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1772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87375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093207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27608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1691640"/>
            <a:ext cx="5394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35040" y="1691640"/>
            <a:ext cx="73152" cy="42519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6207" y="1837944"/>
            <a:ext cx="50292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Design decision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7" y="2350008"/>
            <a:ext cx="50292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Validate hierarchy before visual polish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54496" y="4434840"/>
            <a:ext cx="49560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55664" y="4617720"/>
            <a:ext cx="1942185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55664" y="4873752"/>
            <a:ext cx="366857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55664" y="5093207"/>
            <a:ext cx="296722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61320" y="5276088"/>
            <a:ext cx="566928" cy="21031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01 /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Wireframe fidelity · Artifact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58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384048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347472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Working artifact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347472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booking screen structure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340156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382572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2611526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112264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1188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737360"/>
            <a:ext cx="6537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02352" y="1965960"/>
            <a:ext cx="6035040" cy="41148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0" y="2039112"/>
            <a:ext cx="512064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rial"/>
              </a:rPr>
              <a:t>Booking Screen Structure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12080" y="2697480"/>
            <a:ext cx="20574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79792" y="2697480"/>
            <a:ext cx="333756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13248" y="2953512"/>
            <a:ext cx="16459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13248" y="3264408"/>
            <a:ext cx="1325880" cy="100584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99248" y="2953512"/>
            <a:ext cx="237744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99248" y="3337560"/>
            <a:ext cx="26060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99248" y="3630168"/>
            <a:ext cx="201168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99248" y="4297680"/>
            <a:ext cx="1508760" cy="39319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0" y="5349240"/>
            <a:ext cx="576072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200" b="0">
                <a:solidFill>
                  <a:srgbClr val="14263F"/>
                </a:solidFill>
                <a:latin typeface="Arial"/>
              </a:rPr>
              <a:t>Validate hierarchy before visual polish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01 /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Wireframe fidelity · Flow /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59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Header, appointment card and primary action must fit 390 px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booking screen structure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Validate hierarchy before visual polish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Review evidence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01 /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Wireframe fidelity · Design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60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663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2976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2976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Validate hierarchy before visual polish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2245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78838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171139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56489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15000" y="2011680"/>
            <a:ext cx="5532120" cy="9144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221992"/>
            <a:ext cx="512064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0">
                <a:solidFill>
                  <a:srgbClr val="14263F"/>
                </a:solidFill>
                <a:latin typeface="Arial"/>
              </a:rPr>
              <a:t>Header, appointment card and primary action must fit 390 px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3063240"/>
            <a:ext cx="109728" cy="6400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0" y="3749039"/>
            <a:ext cx="5532120" cy="11430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023360"/>
            <a:ext cx="5120640" cy="640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1">
                <a:solidFill>
                  <a:srgbClr val="1B5BA9"/>
                </a:solidFill>
                <a:latin typeface="Arial"/>
              </a:rPr>
              <a:t>Inspect the booking screen structure against the rule.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01 /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Wireframe fidelity · Responsive or print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607040" cy="5029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800" b="1">
                <a:solidFill>
                  <a:srgbClr val="14263F"/>
                </a:solidFill>
                <a:latin typeface="Arial"/>
              </a:rPr>
              <a:t>Inspect the booking screen structure across required formats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423160"/>
            <a:ext cx="53949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560320"/>
            <a:ext cx="51389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3063240"/>
            <a:ext cx="50292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3383280"/>
            <a:ext cx="48006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3657600"/>
            <a:ext cx="46634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486400"/>
            <a:ext cx="53949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DESKTOP / FULL SHEET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423160"/>
            <a:ext cx="292608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28816" y="2560320"/>
            <a:ext cx="267004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0" y="3063240"/>
            <a:ext cx="25603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0" y="3383280"/>
            <a:ext cx="233172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0" y="3657600"/>
            <a:ext cx="219456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486400"/>
            <a:ext cx="292608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TABLET / FOLDED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0" y="2423160"/>
            <a:ext cx="17373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29216" y="2560320"/>
            <a:ext cx="14813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84080" y="3063240"/>
            <a:ext cx="13716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84080" y="3383280"/>
            <a:ext cx="11430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0" y="3657600"/>
            <a:ext cx="1005839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7840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5486400"/>
            <a:ext cx="17373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MOBILE / PANEL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01 /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Wireframe fidelity · Accessibility / 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62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48056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1148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Quality criterion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1148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Verify labels, contrast, focus or print legibility for the target audience.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0416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13001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046780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46430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6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77840" y="1691640"/>
            <a:ext cx="5806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011680"/>
            <a:ext cx="502920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CHECK → RECORD → REVISE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2788920"/>
            <a:ext cx="384048" cy="3840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788920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Readable content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3538727"/>
            <a:ext cx="384048" cy="384048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3538727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Clear action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89320" y="4288536"/>
            <a:ext cx="384048" cy="384048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88536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Recovery 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5349240"/>
            <a:ext cx="502920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300" b="0">
                <a:solidFill>
                  <a:srgbClr val="14263F"/>
                </a:solidFill>
                <a:latin typeface="Arial"/>
              </a:rPr>
              <a:t>Capture booking screen structure as evidence.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01 /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Wireframe fidelity · Failure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63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F2A83A"/>
                </a:solidFill>
                <a:latin typeface="Arial"/>
              </a:rPr>
              <a:t>Observed defect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Starting with decorative imagery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321808"/>
            <a:ext cx="566928" cy="210312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Revised 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Validate hierarchy before visual polish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59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471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471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471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3784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24728" y="3200400"/>
            <a:ext cx="320040" cy="54864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3000" b="1">
                <a:solidFill>
                  <a:srgbClr val="1B5BA9"/>
                </a:solidFill>
                <a:latin typeface="Arial"/>
              </a:rPr>
              <a:t>›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01 /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Wireframe fidelity · Evidence to retain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64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Save initial booking screen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Change: Validate hierarchy before visual polish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Retest same task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Keep export + evidence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01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Prompt specification ·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65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519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Scenario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Define audience, task, constraints, breakpoints and success criteria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3484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1772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87375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093207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27608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1691640"/>
            <a:ext cx="5394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35040" y="1691640"/>
            <a:ext cx="73152" cy="42519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6207" y="1837944"/>
            <a:ext cx="50292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Design decision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7" y="2350008"/>
            <a:ext cx="50292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Give Claude a testable design brief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54496" y="4434840"/>
            <a:ext cx="49560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55664" y="4617720"/>
            <a:ext cx="1942185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55664" y="4873752"/>
            <a:ext cx="366857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55664" y="5093207"/>
            <a:ext cx="296722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61320" y="5276088"/>
            <a:ext cx="566928" cy="21031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01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Prompt specification · Artifact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66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384048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347472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Working artifact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347472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Claude Design brief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340156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382572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2611526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112264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1188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737360"/>
            <a:ext cx="6537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02352" y="1965960"/>
            <a:ext cx="6035040" cy="41148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0" y="2039112"/>
            <a:ext cx="512064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rial"/>
              </a:rPr>
              <a:t>Claude Design Brief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12080" y="2697480"/>
            <a:ext cx="20574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79792" y="2697480"/>
            <a:ext cx="333756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13248" y="2953512"/>
            <a:ext cx="16459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13248" y="3264408"/>
            <a:ext cx="1325880" cy="100584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99248" y="2953512"/>
            <a:ext cx="237744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99248" y="3337560"/>
            <a:ext cx="26060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99248" y="3630168"/>
            <a:ext cx="201168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99248" y="4297680"/>
            <a:ext cx="1508760" cy="39319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0" y="5349240"/>
            <a:ext cx="576072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200" b="0">
                <a:solidFill>
                  <a:srgbClr val="14263F"/>
                </a:solidFill>
                <a:latin typeface="Arial"/>
              </a:rPr>
              <a:t>Give Claude a testable design brief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01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Prompt specification · Flow /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67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Define audience, task, constraints, breakpoints and success criteria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Claude Design brief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Give Claude a testable design brief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Review evidence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01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Prompt specification · Design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68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663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2976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2976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Give Claude a testable design brief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2245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78838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171139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56489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15000" y="2011680"/>
            <a:ext cx="5532120" cy="9144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221992"/>
            <a:ext cx="512064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0">
                <a:solidFill>
                  <a:srgbClr val="14263F"/>
                </a:solidFill>
                <a:latin typeface="Arial"/>
              </a:rPr>
              <a:t>Define audience, task, constraints, breakpoints and success criteria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3063240"/>
            <a:ext cx="109728" cy="6400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0" y="3749039"/>
            <a:ext cx="5532120" cy="11430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023360"/>
            <a:ext cx="5120640" cy="640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1">
                <a:solidFill>
                  <a:srgbClr val="1B5BA9"/>
                </a:solidFill>
                <a:latin typeface="Arial"/>
              </a:rPr>
              <a:t>Inspect the Claude Design brief against the rule.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01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Prompt specification · Responsive or print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69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607040" cy="5029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800" b="1">
                <a:solidFill>
                  <a:srgbClr val="14263F"/>
                </a:solidFill>
                <a:latin typeface="Arial"/>
              </a:rPr>
              <a:t>Inspect the Claude Design brief across required formats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423160"/>
            <a:ext cx="53949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560320"/>
            <a:ext cx="51389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3063240"/>
            <a:ext cx="50292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3383280"/>
            <a:ext cx="48006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3657600"/>
            <a:ext cx="46634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486400"/>
            <a:ext cx="53949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DESKTOP / FULL SHEET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423160"/>
            <a:ext cx="292608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28816" y="2560320"/>
            <a:ext cx="267004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0" y="3063240"/>
            <a:ext cx="25603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0" y="3383280"/>
            <a:ext cx="233172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0" y="3657600"/>
            <a:ext cx="219456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486400"/>
            <a:ext cx="292608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TABLET / FOLDED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0" y="2423160"/>
            <a:ext cx="17373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29216" y="2560320"/>
            <a:ext cx="14813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84080" y="3063240"/>
            <a:ext cx="13716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84080" y="3383280"/>
            <a:ext cx="11430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0" y="3657600"/>
            <a:ext cx="1005839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7840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5486400"/>
            <a:ext cx="17373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MOBILE / PANEL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01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Prompt specification · Accessibility / 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70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48056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1148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Quality criterion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1148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Verify labels, contrast, focus or print legibility for the target audience.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0416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13001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046780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46430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6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77840" y="1691640"/>
            <a:ext cx="5806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011680"/>
            <a:ext cx="502920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CHECK → RECORD → REVISE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2788920"/>
            <a:ext cx="384048" cy="3840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788920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Readable content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3538727"/>
            <a:ext cx="384048" cy="384048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3538727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Clear action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89320" y="4288536"/>
            <a:ext cx="384048" cy="384048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88536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Recovery 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5349240"/>
            <a:ext cx="502920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300" b="0">
                <a:solidFill>
                  <a:srgbClr val="14263F"/>
                </a:solidFill>
                <a:latin typeface="Arial"/>
              </a:rPr>
              <a:t>Capture Claude Design brief as evidence.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01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Prompt specification · Failure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71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F2A83A"/>
                </a:solidFill>
                <a:latin typeface="Arial"/>
              </a:rPr>
              <a:t>Observed defect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Prompting only “make it modern”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321808"/>
            <a:ext cx="566928" cy="210312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Revised 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Give Claude a testable design brief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59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471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471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471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3784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24728" y="3200400"/>
            <a:ext cx="320040" cy="54864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3000" b="1">
                <a:solidFill>
                  <a:srgbClr val="1B5BA9"/>
                </a:solidFill>
                <a:latin typeface="Arial"/>
              </a:rPr>
              <a:t>›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01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Prompt specification · Evidence to retain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72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Save initial Claude Design brief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Change: Give Claude a testable design brief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Retest same task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Keep export + evidence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02 /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Responsive layout ·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73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519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Scenario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A 4-column grid becomes 2 columns then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3484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1772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87375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093207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27608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1691640"/>
            <a:ext cx="5394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35040" y="1691640"/>
            <a:ext cx="73152" cy="42519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6207" y="1837944"/>
            <a:ext cx="50292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Design decision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7" y="2350008"/>
            <a:ext cx="50292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Preserve product order and card action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54496" y="4434840"/>
            <a:ext cx="49560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55664" y="4617720"/>
            <a:ext cx="1942185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55664" y="4873752"/>
            <a:ext cx="366857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55664" y="5093207"/>
            <a:ext cx="296722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61320" y="5276088"/>
            <a:ext cx="566928" cy="21031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02 /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Responsive layout · Artifact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74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384048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347472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Working artifact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347472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retail product grid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340156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382572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2611526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112264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1188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737360"/>
            <a:ext cx="6537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02352" y="1965960"/>
            <a:ext cx="6035040" cy="41148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0" y="2039112"/>
            <a:ext cx="512064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rial"/>
              </a:rPr>
              <a:t>Retail Product Grid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12080" y="2697480"/>
            <a:ext cx="20574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79792" y="2697480"/>
            <a:ext cx="333756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13248" y="2953512"/>
            <a:ext cx="16459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13248" y="3264408"/>
            <a:ext cx="1325880" cy="100584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99248" y="2953512"/>
            <a:ext cx="237744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99248" y="3337560"/>
            <a:ext cx="26060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99248" y="3630168"/>
            <a:ext cx="201168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99248" y="4297680"/>
            <a:ext cx="1508760" cy="39319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0" y="5349240"/>
            <a:ext cx="576072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200" b="0">
                <a:solidFill>
                  <a:srgbClr val="14263F"/>
                </a:solidFill>
                <a:latin typeface="Arial"/>
              </a:rPr>
              <a:t>Preserve product order and card action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02 /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Responsive layout · Flow /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75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A 4-column grid becomes 2 columns then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retail product grid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Preserve product order and card 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Review evidence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02 /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Responsive layout · Design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76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663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2976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2976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Preserve product order and card action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2245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78838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171139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56489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15000" y="2011680"/>
            <a:ext cx="5532120" cy="9144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221992"/>
            <a:ext cx="512064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0">
                <a:solidFill>
                  <a:srgbClr val="14263F"/>
                </a:solidFill>
                <a:latin typeface="Arial"/>
              </a:rPr>
              <a:t>A 4-column grid becomes 2 columns then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3063240"/>
            <a:ext cx="109728" cy="6400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0" y="3749039"/>
            <a:ext cx="5532120" cy="11430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023360"/>
            <a:ext cx="5120640" cy="640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1">
                <a:solidFill>
                  <a:srgbClr val="1B5BA9"/>
                </a:solidFill>
                <a:latin typeface="Arial"/>
              </a:rPr>
              <a:t>Inspect the retail product grid against the rule.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02 /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Responsive layout · Responsive or print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607040" cy="5029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800" b="1">
                <a:solidFill>
                  <a:srgbClr val="14263F"/>
                </a:solidFill>
                <a:latin typeface="Arial"/>
              </a:rPr>
              <a:t>Inspect the retail product grid across required formats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423160"/>
            <a:ext cx="53949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560320"/>
            <a:ext cx="51389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3063240"/>
            <a:ext cx="50292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3383280"/>
            <a:ext cx="48006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3657600"/>
            <a:ext cx="46634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486400"/>
            <a:ext cx="53949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DESKTOP / FULL SHEET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423160"/>
            <a:ext cx="292608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28816" y="2560320"/>
            <a:ext cx="267004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0" y="3063240"/>
            <a:ext cx="25603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0" y="3383280"/>
            <a:ext cx="233172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0" y="3657600"/>
            <a:ext cx="219456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486400"/>
            <a:ext cx="292608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TABLET / FOLDED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0" y="2423160"/>
            <a:ext cx="17373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29216" y="2560320"/>
            <a:ext cx="14813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84080" y="3063240"/>
            <a:ext cx="13716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84080" y="3383280"/>
            <a:ext cx="11430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0" y="3657600"/>
            <a:ext cx="1005839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7840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5486400"/>
            <a:ext cx="17373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MOBILE / PANEL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02 /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Responsive layout · Accessibility / 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78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48056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1148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Quality criterion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1148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Verify labels, contrast, focus or print legibility for the target audience.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0416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13001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046780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46430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6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77840" y="1691640"/>
            <a:ext cx="5806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011680"/>
            <a:ext cx="502920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CHECK → RECORD → REVISE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2788920"/>
            <a:ext cx="384048" cy="3840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788920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Readable content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3538727"/>
            <a:ext cx="384048" cy="384048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3538727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Clear action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89320" y="4288536"/>
            <a:ext cx="384048" cy="384048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88536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Recovery 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5349240"/>
            <a:ext cx="502920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300" b="0">
                <a:solidFill>
                  <a:srgbClr val="14263F"/>
                </a:solidFill>
                <a:latin typeface="Arial"/>
              </a:rPr>
              <a:t>Capture retail product grid as evidence.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02 /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Responsive layout · Failure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79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F2A83A"/>
                </a:solidFill>
                <a:latin typeface="Arial"/>
              </a:rPr>
              <a:t>Observed defect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Shrinking four columns onto a phone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321808"/>
            <a:ext cx="566928" cy="210312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Revised 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Preserve product order and card action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59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471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471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471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3784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24728" y="3200400"/>
            <a:ext cx="320040" cy="54864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3000" b="1">
                <a:solidFill>
                  <a:srgbClr val="1B5BA9"/>
                </a:solidFill>
                <a:latin typeface="Arial"/>
              </a:rPr>
              <a:t>›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02 /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Responsive layout · Evidence to retain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80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Save initial retail product grid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Change: Preserve product order and card action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Retest same task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Keep export + evidence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02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Component anatomy ·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81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519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Scenario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Image, name, price, stock status and CTA have fixed roles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3484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1772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87375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093207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27608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1691640"/>
            <a:ext cx="5394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35040" y="1691640"/>
            <a:ext cx="73152" cy="42519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6207" y="1837944"/>
            <a:ext cx="50292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Design decision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7" y="2350008"/>
            <a:ext cx="50292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Specify props and empty/disabled states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54496" y="4434840"/>
            <a:ext cx="49560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55664" y="4617720"/>
            <a:ext cx="1942185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55664" y="4873752"/>
            <a:ext cx="366857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55664" y="5093207"/>
            <a:ext cx="296722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61320" y="5276088"/>
            <a:ext cx="566928" cy="21031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02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Component anatomy · Artifact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82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384048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347472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Working artifact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347472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product card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340156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382572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2611526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112264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1188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737360"/>
            <a:ext cx="6537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02352" y="1965960"/>
            <a:ext cx="6035040" cy="41148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0" y="2039112"/>
            <a:ext cx="512064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rial"/>
              </a:rPr>
              <a:t>Product Card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12080" y="2697480"/>
            <a:ext cx="20574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79792" y="2697480"/>
            <a:ext cx="333756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13248" y="2953512"/>
            <a:ext cx="16459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13248" y="3264408"/>
            <a:ext cx="1325880" cy="100584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99248" y="2953512"/>
            <a:ext cx="237744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99248" y="3337560"/>
            <a:ext cx="26060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99248" y="3630168"/>
            <a:ext cx="201168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99248" y="4297680"/>
            <a:ext cx="1508760" cy="39319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0" y="5349240"/>
            <a:ext cx="576072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200" b="0">
                <a:solidFill>
                  <a:srgbClr val="14263F"/>
                </a:solidFill>
                <a:latin typeface="Arial"/>
              </a:rPr>
              <a:t>Specify props and empty/disabled states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02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Component anatomy · Flow /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83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Image, name, price, stock status and CTA have fixed roles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product card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Specify props and empty/disabled states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Review evidence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02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Component anatomy · Design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84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663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2976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2976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Specify props and empty/disabled states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2245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78838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171139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56489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15000" y="2011680"/>
            <a:ext cx="5532120" cy="9144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221992"/>
            <a:ext cx="512064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0">
                <a:solidFill>
                  <a:srgbClr val="14263F"/>
                </a:solidFill>
                <a:latin typeface="Arial"/>
              </a:rPr>
              <a:t>Image, name, price, stock status and CTA have fixed roles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3063240"/>
            <a:ext cx="109728" cy="6400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0" y="3749039"/>
            <a:ext cx="5532120" cy="11430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023360"/>
            <a:ext cx="5120640" cy="640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1">
                <a:solidFill>
                  <a:srgbClr val="1B5BA9"/>
                </a:solidFill>
                <a:latin typeface="Arial"/>
              </a:rPr>
              <a:t>Inspect the product card against the rule.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02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Component anatomy · Responsive or print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85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607040" cy="5029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800" b="1">
                <a:solidFill>
                  <a:srgbClr val="14263F"/>
                </a:solidFill>
                <a:latin typeface="Arial"/>
              </a:rPr>
              <a:t>Inspect the product card across required formats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423160"/>
            <a:ext cx="53949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560320"/>
            <a:ext cx="51389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3063240"/>
            <a:ext cx="50292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3383280"/>
            <a:ext cx="48006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3657600"/>
            <a:ext cx="46634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486400"/>
            <a:ext cx="53949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DESKTOP / FULL SHEET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423160"/>
            <a:ext cx="292608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28816" y="2560320"/>
            <a:ext cx="267004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0" y="3063240"/>
            <a:ext cx="25603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0" y="3383280"/>
            <a:ext cx="233172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0" y="3657600"/>
            <a:ext cx="219456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486400"/>
            <a:ext cx="292608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TABLET / FOLDED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0" y="2423160"/>
            <a:ext cx="17373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29216" y="2560320"/>
            <a:ext cx="14813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84080" y="3063240"/>
            <a:ext cx="13716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84080" y="3383280"/>
            <a:ext cx="11430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0" y="3657600"/>
            <a:ext cx="1005839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7840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5486400"/>
            <a:ext cx="17373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MOBILE / PANEL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02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Component anatomy · Accessibility / 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86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48056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1148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Quality criterion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1148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Verify labels, contrast, focus or print legibility for the target audience.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0416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13001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046780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46430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6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77840" y="1691640"/>
            <a:ext cx="5806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011680"/>
            <a:ext cx="502920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CHECK → RECORD → REVISE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2788920"/>
            <a:ext cx="384048" cy="3840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788920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Readable content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3538727"/>
            <a:ext cx="384048" cy="384048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3538727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Clear action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89320" y="4288536"/>
            <a:ext cx="384048" cy="384048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88536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Recovery 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5349240"/>
            <a:ext cx="502920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300" b="0">
                <a:solidFill>
                  <a:srgbClr val="14263F"/>
                </a:solidFill>
                <a:latin typeface="Arial"/>
              </a:rPr>
              <a:t>Capture product card as evidence.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02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Component anatomy · Failure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87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F2A83A"/>
                </a:solidFill>
                <a:latin typeface="Arial"/>
              </a:rPr>
              <a:t>Observed defect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Embedding all text into one image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321808"/>
            <a:ext cx="566928" cy="210312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Revised 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Specify props and empty/disabled states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59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471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471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471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3784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24728" y="3200400"/>
            <a:ext cx="320040" cy="54864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3000" b="1">
                <a:solidFill>
                  <a:srgbClr val="1B5BA9"/>
                </a:solidFill>
                <a:latin typeface="Arial"/>
              </a:rPr>
              <a:t>›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02 /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Component anatomy · Evidence to retain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88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Save initial product card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Change: Specify props and empty/disabled states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Retest same task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Keep export + evidence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02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Design tokens ·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89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519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Scenario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Primary #165C72, space 8/16/24, type 16/24/36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3484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1772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87375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093207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27608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1691640"/>
            <a:ext cx="5394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35040" y="1691640"/>
            <a:ext cx="73152" cy="42519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6207" y="1837944"/>
            <a:ext cx="50292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Design decision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7" y="2350008"/>
            <a:ext cx="50292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Use semantic tokens across screens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54496" y="4434840"/>
            <a:ext cx="49560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55664" y="4617720"/>
            <a:ext cx="1942185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55664" y="4873752"/>
            <a:ext cx="366857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55664" y="5093207"/>
            <a:ext cx="296722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61320" y="5276088"/>
            <a:ext cx="566928" cy="21031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02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Design tokens · Artifact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90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384048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347472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Working artifact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347472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retail visual system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340156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382572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2611526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112264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1188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737360"/>
            <a:ext cx="6537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02352" y="1965960"/>
            <a:ext cx="6035040" cy="41148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0" y="2039112"/>
            <a:ext cx="512064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rial"/>
              </a:rPr>
              <a:t>Retail Visual System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12080" y="2697480"/>
            <a:ext cx="20574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79792" y="2697480"/>
            <a:ext cx="333756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13248" y="2953512"/>
            <a:ext cx="16459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13248" y="3264408"/>
            <a:ext cx="1325880" cy="100584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99248" y="2953512"/>
            <a:ext cx="237744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99248" y="3337560"/>
            <a:ext cx="26060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99248" y="3630168"/>
            <a:ext cx="201168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99248" y="4297680"/>
            <a:ext cx="1508760" cy="39319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0" y="5349240"/>
            <a:ext cx="576072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200" b="0">
                <a:solidFill>
                  <a:srgbClr val="14263F"/>
                </a:solidFill>
                <a:latin typeface="Arial"/>
              </a:rPr>
              <a:t>Use semantic tokens across screens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02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Design tokens · Flow /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91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Primary #165C72, space 8/16/24, type 16/24/36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retail visual system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Use semantic tokens across screens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Review evidence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02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Design tokens · Design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92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663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2976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2976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Use semantic tokens across screens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2245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78838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171139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56489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15000" y="2011680"/>
            <a:ext cx="5532120" cy="9144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221992"/>
            <a:ext cx="512064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0">
                <a:solidFill>
                  <a:srgbClr val="14263F"/>
                </a:solidFill>
                <a:latin typeface="Arial"/>
              </a:rPr>
              <a:t>Primary #165C72, space 8/16/24, type 16/24/36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3063240"/>
            <a:ext cx="109728" cy="6400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0" y="3749039"/>
            <a:ext cx="5532120" cy="11430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023360"/>
            <a:ext cx="5120640" cy="640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1">
                <a:solidFill>
                  <a:srgbClr val="1B5BA9"/>
                </a:solidFill>
                <a:latin typeface="Arial"/>
              </a:rPr>
              <a:t>Inspect the retail visual system against the rule.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02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Design tokens · Responsive or print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93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607040" cy="5029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800" b="1">
                <a:solidFill>
                  <a:srgbClr val="14263F"/>
                </a:solidFill>
                <a:latin typeface="Arial"/>
              </a:rPr>
              <a:t>Inspect the retail visual system across required formats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423160"/>
            <a:ext cx="53949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560320"/>
            <a:ext cx="51389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3063240"/>
            <a:ext cx="50292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3383280"/>
            <a:ext cx="48006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3657600"/>
            <a:ext cx="46634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486400"/>
            <a:ext cx="53949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DESKTOP / FULL SHEET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423160"/>
            <a:ext cx="292608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28816" y="2560320"/>
            <a:ext cx="267004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0" y="3063240"/>
            <a:ext cx="25603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0" y="3383280"/>
            <a:ext cx="233172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0" y="3657600"/>
            <a:ext cx="219456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486400"/>
            <a:ext cx="292608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TABLET / FOLDED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0" y="2423160"/>
            <a:ext cx="17373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29216" y="2560320"/>
            <a:ext cx="14813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84080" y="3063240"/>
            <a:ext cx="13716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84080" y="3383280"/>
            <a:ext cx="11430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0" y="3657600"/>
            <a:ext cx="1005839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7840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5486400"/>
            <a:ext cx="17373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MOBILE / PANEL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02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Design tokens · Accessibility / 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94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48056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1148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Quality criterion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1148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Verify labels, contrast, focus or print legibility for the target audience.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0416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13001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046780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46430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6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77840" y="1691640"/>
            <a:ext cx="5806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011680"/>
            <a:ext cx="502920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CHECK → RECORD → REVISE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2788920"/>
            <a:ext cx="384048" cy="3840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788920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Readable content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3538727"/>
            <a:ext cx="384048" cy="384048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3538727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Clear action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89320" y="4288536"/>
            <a:ext cx="384048" cy="384048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88536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Recovery 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5349240"/>
            <a:ext cx="502920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300" b="0">
                <a:solidFill>
                  <a:srgbClr val="14263F"/>
                </a:solidFill>
                <a:latin typeface="Arial"/>
              </a:rPr>
              <a:t>Capture retail visual system as evidence.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02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Design tokens · Failure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95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F2A83A"/>
                </a:solidFill>
                <a:latin typeface="Arial"/>
              </a:rPr>
              <a:t>Observed defect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Using arbitrary per-screen colors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321808"/>
            <a:ext cx="566928" cy="210312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Revised 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Use semantic tokens across screens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59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471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471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471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3784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24728" y="3200400"/>
            <a:ext cx="320040" cy="54864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3000" b="1">
                <a:solidFill>
                  <a:srgbClr val="1B5BA9"/>
                </a:solidFill>
                <a:latin typeface="Arial"/>
              </a:rPr>
              <a:t>›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02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Design tokens · Evidence to retain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96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Save initial retail visual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Change: Use semantic tokens across screens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Retest same task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Keep export + evidence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Interaction state ·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97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519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Scenario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Default → loading → added or error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3484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1772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87375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093207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27608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1691640"/>
            <a:ext cx="5394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35040" y="1691640"/>
            <a:ext cx="73152" cy="42519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6207" y="1837944"/>
            <a:ext cx="50292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Design decision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7" y="2350008"/>
            <a:ext cx="50292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Show feedback and prevent duplicate request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54496" y="4434840"/>
            <a:ext cx="49560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55664" y="4617720"/>
            <a:ext cx="1942185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55664" y="4873752"/>
            <a:ext cx="366857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55664" y="5093207"/>
            <a:ext cx="296722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61320" y="5276088"/>
            <a:ext cx="566928" cy="21031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Interaction state · Artifact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98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384048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347472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Working artifact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347472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add-to-cart control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340156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382572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2611526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112264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1188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737360"/>
            <a:ext cx="6537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02352" y="1965960"/>
            <a:ext cx="6035040" cy="41148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0" y="2039112"/>
            <a:ext cx="512064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rial"/>
              </a:rPr>
              <a:t>Add-To-Cart Control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12080" y="2697480"/>
            <a:ext cx="20574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79792" y="2697480"/>
            <a:ext cx="333756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13248" y="2953512"/>
            <a:ext cx="16459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13248" y="3264408"/>
            <a:ext cx="1325880" cy="100584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99248" y="2953512"/>
            <a:ext cx="237744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99248" y="3337560"/>
            <a:ext cx="26060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99248" y="3630168"/>
            <a:ext cx="201168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99248" y="4297680"/>
            <a:ext cx="1508760" cy="39319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0" y="5349240"/>
            <a:ext cx="576072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200" b="0">
                <a:solidFill>
                  <a:srgbClr val="14263F"/>
                </a:solidFill>
                <a:latin typeface="Arial"/>
              </a:rPr>
              <a:t>Show feedback and prevent duplicate request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Interaction state · Flow /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99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Default → loading → added or error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add-to-cart 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Show feedback and prevent duplicate request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Review evidence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Interaction state · Design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100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663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2976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2976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Show feedback and prevent duplicate request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2245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78838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171139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56489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15000" y="2011680"/>
            <a:ext cx="5532120" cy="9144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221992"/>
            <a:ext cx="512064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0">
                <a:solidFill>
                  <a:srgbClr val="14263F"/>
                </a:solidFill>
                <a:latin typeface="Arial"/>
              </a:rPr>
              <a:t>Default → loading → added or error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3063240"/>
            <a:ext cx="109728" cy="6400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0" y="3749039"/>
            <a:ext cx="5532120" cy="11430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023360"/>
            <a:ext cx="5120640" cy="640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1">
                <a:solidFill>
                  <a:srgbClr val="1B5BA9"/>
                </a:solidFill>
                <a:latin typeface="Arial"/>
              </a:rPr>
              <a:t>Inspect the add-to-cart control against the rule.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Interaction state · Responsive or print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607040" cy="5029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800" b="1">
                <a:solidFill>
                  <a:srgbClr val="14263F"/>
                </a:solidFill>
                <a:latin typeface="Arial"/>
              </a:rPr>
              <a:t>Inspect the add-to-cart control across required formats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423160"/>
            <a:ext cx="53949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560320"/>
            <a:ext cx="51389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3063240"/>
            <a:ext cx="50292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3383280"/>
            <a:ext cx="48006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3657600"/>
            <a:ext cx="46634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486400"/>
            <a:ext cx="53949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DESKTOP / FULL SHEET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423160"/>
            <a:ext cx="292608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28816" y="2560320"/>
            <a:ext cx="267004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0" y="3063240"/>
            <a:ext cx="25603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0" y="3383280"/>
            <a:ext cx="233172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0" y="3657600"/>
            <a:ext cx="219456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486400"/>
            <a:ext cx="292608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TABLET / FOLDED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0" y="2423160"/>
            <a:ext cx="17373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29216" y="2560320"/>
            <a:ext cx="14813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84080" y="3063240"/>
            <a:ext cx="13716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84080" y="3383280"/>
            <a:ext cx="11430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0" y="3657600"/>
            <a:ext cx="1005839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7840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5486400"/>
            <a:ext cx="17373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MOBILE / PANEL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Interaction state · Accessibility / 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102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48056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1148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Quality criterion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1148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Verify labels, contrast, focus or print legibility for the target audience.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0416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13001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046780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46430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6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77840" y="1691640"/>
            <a:ext cx="5806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011680"/>
            <a:ext cx="502920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CHECK → RECORD → REVISE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2788920"/>
            <a:ext cx="384048" cy="3840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788920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Readable content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3538727"/>
            <a:ext cx="384048" cy="384048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3538727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Clear action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89320" y="4288536"/>
            <a:ext cx="384048" cy="384048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88536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Recovery 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5349240"/>
            <a:ext cx="502920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300" b="0">
                <a:solidFill>
                  <a:srgbClr val="14263F"/>
                </a:solidFill>
                <a:latin typeface="Arial"/>
              </a:rPr>
              <a:t>Capture add-to-cart control as evidence.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Interaction state · Failure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103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F2A83A"/>
                </a:solidFill>
                <a:latin typeface="Arial"/>
              </a:rPr>
              <a:t>Observed defect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Button gives no response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321808"/>
            <a:ext cx="566928" cy="210312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Revised 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Show feedback and prevent duplicate request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59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471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471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471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3784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24728" y="3200400"/>
            <a:ext cx="320040" cy="54864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3000" b="1">
                <a:solidFill>
                  <a:srgbClr val="1B5BA9"/>
                </a:solidFill>
                <a:latin typeface="Arial"/>
              </a:rPr>
              <a:t>›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2 / LAB 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Interaction state · Evidence to retain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104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Save initial add-to-cart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Change: Show feedback and prevent duplicate request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Retest same task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Keep export + evidence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Accessibility contrast ·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105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519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Scenario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White on #165C72 must be checked against 4.5:1 for normal text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3484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1772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87375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093207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27608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1691640"/>
            <a:ext cx="5394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35040" y="1691640"/>
            <a:ext cx="73152" cy="42519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6207" y="1837944"/>
            <a:ext cx="50292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Design decision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7" y="2350008"/>
            <a:ext cx="50292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Measure actual foreground/background pair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54496" y="4434840"/>
            <a:ext cx="49560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55664" y="4617720"/>
            <a:ext cx="1942185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55664" y="4873752"/>
            <a:ext cx="366857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55664" y="5093207"/>
            <a:ext cx="296722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61320" y="5276088"/>
            <a:ext cx="566928" cy="21031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Accessibility contrast · Artifact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106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384048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347472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Working artifact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347472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cart CTA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340156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382572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2611526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112264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1188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737360"/>
            <a:ext cx="6537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02352" y="1965960"/>
            <a:ext cx="6035040" cy="41148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0" y="2039112"/>
            <a:ext cx="512064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rial"/>
              </a:rPr>
              <a:t>Cart Cta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12080" y="2697480"/>
            <a:ext cx="20574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79792" y="2697480"/>
            <a:ext cx="333756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13248" y="2953512"/>
            <a:ext cx="16459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13248" y="3264408"/>
            <a:ext cx="1325880" cy="100584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99248" y="2953512"/>
            <a:ext cx="237744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99248" y="3337560"/>
            <a:ext cx="26060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99248" y="3630168"/>
            <a:ext cx="201168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99248" y="4297680"/>
            <a:ext cx="1508760" cy="39319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0" y="5349240"/>
            <a:ext cx="576072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200" b="0">
                <a:solidFill>
                  <a:srgbClr val="14263F"/>
                </a:solidFill>
                <a:latin typeface="Arial"/>
              </a:rPr>
              <a:t>Measure actual foreground/background pair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Accessibility contrast · Flow /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107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White on #165C72 must be checked against 4.5:1 for normal 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cart 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Measure actual foreground/background pair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Review evidence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Accessibility contrast · Design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108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663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2976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2976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Measure actual foreground/background pair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2245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78838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171139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56489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15000" y="2011680"/>
            <a:ext cx="5532120" cy="9144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221992"/>
            <a:ext cx="512064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0">
                <a:solidFill>
                  <a:srgbClr val="14263F"/>
                </a:solidFill>
                <a:latin typeface="Arial"/>
              </a:rPr>
              <a:t>White on #165C72 must be checked against 4.5:1 for normal text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3063240"/>
            <a:ext cx="109728" cy="6400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0" y="3749039"/>
            <a:ext cx="5532120" cy="11430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023360"/>
            <a:ext cx="5120640" cy="640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1">
                <a:solidFill>
                  <a:srgbClr val="1B5BA9"/>
                </a:solidFill>
                <a:latin typeface="Arial"/>
              </a:rPr>
              <a:t>Inspect the cart CTA against the rule.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Accessibility contrast · Responsive or print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607040" cy="5029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800" b="1">
                <a:solidFill>
                  <a:srgbClr val="14263F"/>
                </a:solidFill>
                <a:latin typeface="Arial"/>
              </a:rPr>
              <a:t>Inspect the cart CTA across required formats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423160"/>
            <a:ext cx="53949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560320"/>
            <a:ext cx="51389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3063240"/>
            <a:ext cx="50292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3383280"/>
            <a:ext cx="48006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3657600"/>
            <a:ext cx="46634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486400"/>
            <a:ext cx="53949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DESKTOP / FULL SHEET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423160"/>
            <a:ext cx="292608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28816" y="2560320"/>
            <a:ext cx="267004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0" y="3063240"/>
            <a:ext cx="25603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0" y="3383280"/>
            <a:ext cx="233172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0" y="3657600"/>
            <a:ext cx="219456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486400"/>
            <a:ext cx="292608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TABLET / FOLDED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0" y="2423160"/>
            <a:ext cx="17373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29216" y="2560320"/>
            <a:ext cx="14813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84080" y="3063240"/>
            <a:ext cx="13716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84080" y="3383280"/>
            <a:ext cx="11430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0" y="3657600"/>
            <a:ext cx="1005839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7840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5486400"/>
            <a:ext cx="17373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MOBILE / PANEL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Accessibility contrast · Accessibility / 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48056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1148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Quality criterion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1148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Verify labels, contrast, focus or print legibility for the target audience.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0416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13001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046780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46430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6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77840" y="1691640"/>
            <a:ext cx="5806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011680"/>
            <a:ext cx="502920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CHECK → RECORD → REVISE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2788920"/>
            <a:ext cx="384048" cy="3840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788920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Readable content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3538727"/>
            <a:ext cx="384048" cy="384048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3538727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Clear action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89320" y="4288536"/>
            <a:ext cx="384048" cy="384048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88536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Recovery 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5349240"/>
            <a:ext cx="502920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300" b="0">
                <a:solidFill>
                  <a:srgbClr val="14263F"/>
                </a:solidFill>
                <a:latin typeface="Arial"/>
              </a:rPr>
              <a:t>Capture cart CTA as evidence.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Accessibility contrast · Failure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111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F2A83A"/>
                </a:solidFill>
                <a:latin typeface="Arial"/>
              </a:rPr>
              <a:t>Observed defect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Assuming brand color is accessible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321808"/>
            <a:ext cx="566928" cy="210312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Revised 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Measure actual foreground/background pair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59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471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471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471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3784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24728" y="3200400"/>
            <a:ext cx="320040" cy="54864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3000" b="1">
                <a:solidFill>
                  <a:srgbClr val="1B5BA9"/>
                </a:solidFill>
                <a:latin typeface="Arial"/>
              </a:rPr>
              <a:t>›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Accessibility contrast · Evidence to retain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Save initial cart CTA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Change: Measure actual foreground/background pair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Retest same task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Keep export + evidence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02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Keyboard focus ·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113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519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Scenario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Tab order follows address, delivery, payment, review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3484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1772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87375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093207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27608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1691640"/>
            <a:ext cx="5394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35040" y="1691640"/>
            <a:ext cx="73152" cy="42519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6207" y="1837944"/>
            <a:ext cx="50292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Design decision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7" y="2350008"/>
            <a:ext cx="50292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Make focus visible and order logical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54496" y="4434840"/>
            <a:ext cx="49560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55664" y="4617720"/>
            <a:ext cx="1942185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55664" y="4873752"/>
            <a:ext cx="366857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55664" y="5093207"/>
            <a:ext cx="296722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61320" y="5276088"/>
            <a:ext cx="566928" cy="21031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02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Keyboard focus · Artifact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114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384048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347472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Working artifact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347472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checkout form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340156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382572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2611526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112264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1188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737360"/>
            <a:ext cx="6537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02352" y="1965960"/>
            <a:ext cx="6035040" cy="41148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0" y="2039112"/>
            <a:ext cx="512064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rial"/>
              </a:rPr>
              <a:t>Checkout Form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12080" y="2697480"/>
            <a:ext cx="20574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79792" y="2697480"/>
            <a:ext cx="333756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13248" y="2953512"/>
            <a:ext cx="16459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13248" y="3264408"/>
            <a:ext cx="1325880" cy="100584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99248" y="2953512"/>
            <a:ext cx="237744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99248" y="3337560"/>
            <a:ext cx="26060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99248" y="3630168"/>
            <a:ext cx="201168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99248" y="4297680"/>
            <a:ext cx="1508760" cy="39319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0" y="5349240"/>
            <a:ext cx="576072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200" b="0">
                <a:solidFill>
                  <a:srgbClr val="14263F"/>
                </a:solidFill>
                <a:latin typeface="Arial"/>
              </a:rPr>
              <a:t>Make focus visible and order logical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02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Keyboard focus · Flow /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115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Tab order follows address, delivery, payment, 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checkout 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Make focus visible and order logical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Review evidence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02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Keyboard focus · Design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116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663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2976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2976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Make focus visible and order logical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2245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78838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171139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56489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15000" y="2011680"/>
            <a:ext cx="5532120" cy="9144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221992"/>
            <a:ext cx="512064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0">
                <a:solidFill>
                  <a:srgbClr val="14263F"/>
                </a:solidFill>
                <a:latin typeface="Arial"/>
              </a:rPr>
              <a:t>Tab order follows address, delivery, payment, review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3063240"/>
            <a:ext cx="109728" cy="6400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0" y="3749039"/>
            <a:ext cx="5532120" cy="11430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023360"/>
            <a:ext cx="5120640" cy="640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1">
                <a:solidFill>
                  <a:srgbClr val="1B5BA9"/>
                </a:solidFill>
                <a:latin typeface="Arial"/>
              </a:rPr>
              <a:t>Inspect the checkout form against the rule.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02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Keyboard focus · Responsive or print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607040" cy="5029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800" b="1">
                <a:solidFill>
                  <a:srgbClr val="14263F"/>
                </a:solidFill>
                <a:latin typeface="Arial"/>
              </a:rPr>
              <a:t>Inspect the checkout form across required formats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423160"/>
            <a:ext cx="53949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560320"/>
            <a:ext cx="51389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3063240"/>
            <a:ext cx="50292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3383280"/>
            <a:ext cx="48006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3657600"/>
            <a:ext cx="46634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486400"/>
            <a:ext cx="53949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DESKTOP / FULL SHEET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423160"/>
            <a:ext cx="292608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28816" y="2560320"/>
            <a:ext cx="267004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0" y="3063240"/>
            <a:ext cx="25603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0" y="3383280"/>
            <a:ext cx="233172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0" y="3657600"/>
            <a:ext cx="219456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486400"/>
            <a:ext cx="292608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TABLET / FOLDED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0" y="2423160"/>
            <a:ext cx="17373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29216" y="2560320"/>
            <a:ext cx="14813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84080" y="3063240"/>
            <a:ext cx="13716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84080" y="3383280"/>
            <a:ext cx="11430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0" y="3657600"/>
            <a:ext cx="1005839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7840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5486400"/>
            <a:ext cx="17373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MOBILE / PANEL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02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Keyboard focus · Accessibility / 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118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48056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1148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Quality criterion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1148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Verify labels, contrast, focus or print legibility for the target audience.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0416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13001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046780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46430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6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77840" y="1691640"/>
            <a:ext cx="5806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011680"/>
            <a:ext cx="502920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CHECK → RECORD → REVISE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2788920"/>
            <a:ext cx="384048" cy="3840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788920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Readable content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3538727"/>
            <a:ext cx="384048" cy="384048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3538727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Clear action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89320" y="4288536"/>
            <a:ext cx="384048" cy="384048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88536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Recovery 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5349240"/>
            <a:ext cx="502920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300" b="0">
                <a:solidFill>
                  <a:srgbClr val="14263F"/>
                </a:solidFill>
                <a:latin typeface="Arial"/>
              </a:rPr>
              <a:t>Capture checkout form as evidence.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02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Keyboard focus · Failure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119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F2A83A"/>
                </a:solidFill>
                <a:latin typeface="Arial"/>
              </a:rPr>
              <a:t>Observed defect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Focus trapped in a modal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321808"/>
            <a:ext cx="566928" cy="210312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Revised 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Make focus visible and order logical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59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471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471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471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3784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24728" y="3200400"/>
            <a:ext cx="320040" cy="54864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3000" b="1">
                <a:solidFill>
                  <a:srgbClr val="1B5BA9"/>
                </a:solidFill>
                <a:latin typeface="Arial"/>
              </a:rPr>
              <a:t>›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02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Keyboard focus · Evidence to retain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120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Save initial checkout 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Change: Make focus visible and order logical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Retest same task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Keep export + evidence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03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Content hierarchy ·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121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519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Scenario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Event, date, venue and price are first-scan content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3484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1772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87375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093207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27608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1691640"/>
            <a:ext cx="5394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35040" y="1691640"/>
            <a:ext cx="73152" cy="42519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6207" y="1837944"/>
            <a:ext cx="50292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Design decision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7" y="2350008"/>
            <a:ext cx="50292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Use one dominant headline and short proof points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54496" y="4434840"/>
            <a:ext cx="49560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55664" y="4617720"/>
            <a:ext cx="1942185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55664" y="4873752"/>
            <a:ext cx="366857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55664" y="5093207"/>
            <a:ext cx="296722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61320" y="5276088"/>
            <a:ext cx="566928" cy="21031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03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Content hierarchy · Artifact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122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384048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347472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Working artifact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347472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festival flyer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340156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382572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2611526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112264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1188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737360"/>
            <a:ext cx="6537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02352" y="1965960"/>
            <a:ext cx="6035040" cy="41148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0" y="2039112"/>
            <a:ext cx="512064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rial"/>
              </a:rPr>
              <a:t>Festival Flyer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12080" y="2697480"/>
            <a:ext cx="20574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79792" y="2697480"/>
            <a:ext cx="333756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13248" y="2953512"/>
            <a:ext cx="16459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13248" y="3264408"/>
            <a:ext cx="1325880" cy="100584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99248" y="2953512"/>
            <a:ext cx="237744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99248" y="3337560"/>
            <a:ext cx="26060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99248" y="3630168"/>
            <a:ext cx="201168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99248" y="4297680"/>
            <a:ext cx="1508760" cy="39319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0" y="5349240"/>
            <a:ext cx="576072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200" b="0">
                <a:solidFill>
                  <a:srgbClr val="14263F"/>
                </a:solidFill>
                <a:latin typeface="Arial"/>
              </a:rPr>
              <a:t>Use one dominant headline and short proof points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03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Content hierarchy · Flow /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123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Event, date, venue and price are first-scan content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festival flyer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Use one dominant headline and short proof points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Review evidence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03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Content hierarchy · Design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124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663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2976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2976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Use one dominant headline and short proof points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2245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78838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171139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56489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15000" y="2011680"/>
            <a:ext cx="5532120" cy="9144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221992"/>
            <a:ext cx="512064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0">
                <a:solidFill>
                  <a:srgbClr val="14263F"/>
                </a:solidFill>
                <a:latin typeface="Arial"/>
              </a:rPr>
              <a:t>Event, date, venue and price are first-scan content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3063240"/>
            <a:ext cx="109728" cy="6400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0" y="3749039"/>
            <a:ext cx="5532120" cy="11430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023360"/>
            <a:ext cx="5120640" cy="640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1">
                <a:solidFill>
                  <a:srgbClr val="1B5BA9"/>
                </a:solidFill>
                <a:latin typeface="Arial"/>
              </a:rPr>
              <a:t>Inspect the festival flyer against the rule.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03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Content hierarchy · Responsive or print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607040" cy="5029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800" b="1">
                <a:solidFill>
                  <a:srgbClr val="14263F"/>
                </a:solidFill>
                <a:latin typeface="Arial"/>
              </a:rPr>
              <a:t>Inspect the festival flyer across required formats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423160"/>
            <a:ext cx="53949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560320"/>
            <a:ext cx="51389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3063240"/>
            <a:ext cx="50292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3383280"/>
            <a:ext cx="48006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3657600"/>
            <a:ext cx="46634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486400"/>
            <a:ext cx="53949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DESKTOP / FULL SHEET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423160"/>
            <a:ext cx="292608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28816" y="2560320"/>
            <a:ext cx="267004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0" y="3063240"/>
            <a:ext cx="25603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0" y="3383280"/>
            <a:ext cx="233172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0" y="3657600"/>
            <a:ext cx="219456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486400"/>
            <a:ext cx="292608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TABLET / FOLDED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0" y="2423160"/>
            <a:ext cx="17373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29216" y="2560320"/>
            <a:ext cx="14813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84080" y="3063240"/>
            <a:ext cx="13716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84080" y="3383280"/>
            <a:ext cx="11430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0" y="3657600"/>
            <a:ext cx="1005839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7840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5486400"/>
            <a:ext cx="17373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MOBILE / PANEL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03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Content hierarchy · Accessibility / 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126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48056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1148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Quality criterion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1148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Verify labels, contrast, focus or print legibility for the target audience.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0416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13001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046780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46430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6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77840" y="1691640"/>
            <a:ext cx="5806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011680"/>
            <a:ext cx="502920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CHECK → RECORD → REVISE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2788920"/>
            <a:ext cx="384048" cy="3840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788920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Readable content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3538727"/>
            <a:ext cx="384048" cy="384048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3538727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Clear action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89320" y="4288536"/>
            <a:ext cx="384048" cy="384048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88536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Recovery 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5349240"/>
            <a:ext cx="502920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300" b="0">
                <a:solidFill>
                  <a:srgbClr val="14263F"/>
                </a:solidFill>
                <a:latin typeface="Arial"/>
              </a:rPr>
              <a:t>Capture festival flyer as evidence.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03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Content hierarchy · Failure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127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F2A83A"/>
                </a:solidFill>
                <a:latin typeface="Arial"/>
              </a:rPr>
              <a:t>Observed defect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All details have equal visual weight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321808"/>
            <a:ext cx="566928" cy="210312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Revised 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Use one dominant headline and short proof points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59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471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471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471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3784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24728" y="3200400"/>
            <a:ext cx="320040" cy="54864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3000" b="1">
                <a:solidFill>
                  <a:srgbClr val="1B5BA9"/>
                </a:solidFill>
                <a:latin typeface="Arial"/>
              </a:rPr>
              <a:t>›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03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Content hierarchy · Evidence to retain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128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Save initial festival flyer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Change: Use one dominant headline and short proof points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Retest same task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Keep export + evidence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03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Print safety ·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129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519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Scenario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Bleed 3 mm, safe zone 5 mm, 300 dpi assets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3484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1772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87375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093207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27608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1691640"/>
            <a:ext cx="5394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35040" y="1691640"/>
            <a:ext cx="73152" cy="42519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6207" y="1837944"/>
            <a:ext cx="50292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Design decision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7" y="2350008"/>
            <a:ext cx="50292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Keep critical text inside safe zone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54496" y="4434840"/>
            <a:ext cx="49560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55664" y="4617720"/>
            <a:ext cx="1942185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55664" y="4873752"/>
            <a:ext cx="366857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55664" y="5093207"/>
            <a:ext cx="296722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61320" y="5276088"/>
            <a:ext cx="566928" cy="21031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03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Print safety · Artifact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130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384048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347472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Working artifact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347472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A5 flyer layout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340156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382572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2611526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112264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1188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737360"/>
            <a:ext cx="6537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02352" y="1965960"/>
            <a:ext cx="6035040" cy="41148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0" y="2039112"/>
            <a:ext cx="512064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rial"/>
              </a:rPr>
              <a:t>A5 Flyer Layout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12080" y="2697480"/>
            <a:ext cx="20574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79792" y="2697480"/>
            <a:ext cx="333756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13248" y="2953512"/>
            <a:ext cx="16459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13248" y="3264408"/>
            <a:ext cx="1325880" cy="100584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99248" y="2953512"/>
            <a:ext cx="237744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99248" y="3337560"/>
            <a:ext cx="26060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99248" y="3630168"/>
            <a:ext cx="201168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99248" y="4297680"/>
            <a:ext cx="1508760" cy="39319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0" y="5349240"/>
            <a:ext cx="576072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200" b="0">
                <a:solidFill>
                  <a:srgbClr val="14263F"/>
                </a:solidFill>
                <a:latin typeface="Arial"/>
              </a:rPr>
              <a:t>Keep critical text inside safe zone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03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Print safety · Flow /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131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Bleed 3 mm, safe zone 5 mm, 300 dpi assets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A5 flyer layout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Keep critical text inside safe zone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Review evidence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03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Print safety · Design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132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663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2976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2976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Keep critical text inside safe zone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2245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78838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171139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56489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15000" y="2011680"/>
            <a:ext cx="5532120" cy="9144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221992"/>
            <a:ext cx="512064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0">
                <a:solidFill>
                  <a:srgbClr val="14263F"/>
                </a:solidFill>
                <a:latin typeface="Arial"/>
              </a:rPr>
              <a:t>Bleed 3 mm, safe zone 5 mm, 300 dpi assets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3063240"/>
            <a:ext cx="109728" cy="6400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0" y="3749039"/>
            <a:ext cx="5532120" cy="11430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023360"/>
            <a:ext cx="5120640" cy="640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1">
                <a:solidFill>
                  <a:srgbClr val="1B5BA9"/>
                </a:solidFill>
                <a:latin typeface="Arial"/>
              </a:rPr>
              <a:t>Inspect the A5 flyer layout against the rule.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03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Print safety · Responsive or print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607040" cy="5029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800" b="1">
                <a:solidFill>
                  <a:srgbClr val="14263F"/>
                </a:solidFill>
                <a:latin typeface="Arial"/>
              </a:rPr>
              <a:t>Inspect the A5 flyer layout across required formats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423160"/>
            <a:ext cx="53949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560320"/>
            <a:ext cx="51389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3063240"/>
            <a:ext cx="50292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3383280"/>
            <a:ext cx="48006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3657600"/>
            <a:ext cx="46634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486400"/>
            <a:ext cx="53949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DESKTOP / FULL SHEET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423160"/>
            <a:ext cx="292608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28816" y="2560320"/>
            <a:ext cx="267004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0" y="3063240"/>
            <a:ext cx="25603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0" y="3383280"/>
            <a:ext cx="233172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0" y="3657600"/>
            <a:ext cx="219456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486400"/>
            <a:ext cx="292608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TABLET / FOLDED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0" y="2423160"/>
            <a:ext cx="17373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29216" y="2560320"/>
            <a:ext cx="14813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84080" y="3063240"/>
            <a:ext cx="13716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84080" y="3383280"/>
            <a:ext cx="11430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0" y="3657600"/>
            <a:ext cx="1005839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7840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5486400"/>
            <a:ext cx="17373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MOBILE / PANEL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03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Print safety · Accessibility / 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134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48056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1148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Quality criterion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1148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Verify labels, contrast, focus or print legibility for the target audience.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0416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13001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046780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46430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6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77840" y="1691640"/>
            <a:ext cx="5806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011680"/>
            <a:ext cx="502920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CHECK → RECORD → REVISE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2788920"/>
            <a:ext cx="384048" cy="3840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788920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Readable content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3538727"/>
            <a:ext cx="384048" cy="384048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3538727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Clear action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89320" y="4288536"/>
            <a:ext cx="384048" cy="384048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88536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Recovery 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5349240"/>
            <a:ext cx="502920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300" b="0">
                <a:solidFill>
                  <a:srgbClr val="14263F"/>
                </a:solidFill>
                <a:latin typeface="Arial"/>
              </a:rPr>
              <a:t>Capture A5 flyer layout as evidence.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03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Print safety · Failure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135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F2A83A"/>
                </a:solidFill>
                <a:latin typeface="Arial"/>
              </a:rPr>
              <a:t>Observed defect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Text clipped at trim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321808"/>
            <a:ext cx="566928" cy="210312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Revised 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Keep critical text inside safe zone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59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471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471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471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3784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24728" y="3200400"/>
            <a:ext cx="320040" cy="54864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3000" b="1">
                <a:solidFill>
                  <a:srgbClr val="1B5BA9"/>
                </a:solidFill>
                <a:latin typeface="Arial"/>
              </a:rPr>
              <a:t>›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03 /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Print safety · Evidence to retain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136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Save initial A5 flyer layout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Change: Keep critical text inside safe zone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Retest same task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Keep export + evidence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03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Campaign consistency ·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137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519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Scenario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QR landing page repeats event name, date and CTA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3484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1772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87375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093207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27608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1691640"/>
            <a:ext cx="5394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35040" y="1691640"/>
            <a:ext cx="73152" cy="42519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6207" y="1837944"/>
            <a:ext cx="50292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Design decision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7" y="2350008"/>
            <a:ext cx="50292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Maintain message and visual continuity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54496" y="4434840"/>
            <a:ext cx="49560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55664" y="4617720"/>
            <a:ext cx="1942185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55664" y="4873752"/>
            <a:ext cx="366857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55664" y="5093207"/>
            <a:ext cx="296722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61320" y="5276088"/>
            <a:ext cx="566928" cy="21031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03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Campaign consistency · Artifact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138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384048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347472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Working artifact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347472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flyer to landing page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340156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382572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2611526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112264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1188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737360"/>
            <a:ext cx="6537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02352" y="1965960"/>
            <a:ext cx="6035040" cy="41148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0" y="2039112"/>
            <a:ext cx="512064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rial"/>
              </a:rPr>
              <a:t>Flyer To Landing Page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12080" y="2697480"/>
            <a:ext cx="20574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79792" y="2697480"/>
            <a:ext cx="333756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13248" y="2953512"/>
            <a:ext cx="16459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13248" y="3264408"/>
            <a:ext cx="1325880" cy="100584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99248" y="2953512"/>
            <a:ext cx="237744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99248" y="3337560"/>
            <a:ext cx="26060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99248" y="3630168"/>
            <a:ext cx="201168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99248" y="4297680"/>
            <a:ext cx="1508760" cy="39319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0" y="5349240"/>
            <a:ext cx="576072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200" b="0">
                <a:solidFill>
                  <a:srgbClr val="14263F"/>
                </a:solidFill>
                <a:latin typeface="Arial"/>
              </a:rPr>
              <a:t>Maintain message and visual continuity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03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Campaign consistency · Flow /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139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QR landing page repeats event name, date and CTA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flyer to landing page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Maintain message and visual continuity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Review evidence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03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Campaign consistency · Design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140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663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2976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2976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Maintain message and visual continuity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2245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78838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171139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56489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15000" y="2011680"/>
            <a:ext cx="5532120" cy="9144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221992"/>
            <a:ext cx="512064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0">
                <a:solidFill>
                  <a:srgbClr val="14263F"/>
                </a:solidFill>
                <a:latin typeface="Arial"/>
              </a:rPr>
              <a:t>QR landing page repeats event name, date and CTA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3063240"/>
            <a:ext cx="109728" cy="6400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0" y="3749039"/>
            <a:ext cx="5532120" cy="11430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023360"/>
            <a:ext cx="5120640" cy="640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1">
                <a:solidFill>
                  <a:srgbClr val="1B5BA9"/>
                </a:solidFill>
                <a:latin typeface="Arial"/>
              </a:rPr>
              <a:t>Inspect the flyer to landing page against the rule.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03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Campaign consistency · Responsive or print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607040" cy="5029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800" b="1">
                <a:solidFill>
                  <a:srgbClr val="14263F"/>
                </a:solidFill>
                <a:latin typeface="Arial"/>
              </a:rPr>
              <a:t>Inspect the flyer to landing page across required formats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423160"/>
            <a:ext cx="53949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560320"/>
            <a:ext cx="51389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3063240"/>
            <a:ext cx="50292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3383280"/>
            <a:ext cx="48006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3657600"/>
            <a:ext cx="46634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486400"/>
            <a:ext cx="53949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DESKTOP / FULL SHEET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423160"/>
            <a:ext cx="292608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28816" y="2560320"/>
            <a:ext cx="267004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0" y="3063240"/>
            <a:ext cx="25603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0" y="3383280"/>
            <a:ext cx="233172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0" y="3657600"/>
            <a:ext cx="219456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486400"/>
            <a:ext cx="292608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TABLET / FOLDED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0" y="2423160"/>
            <a:ext cx="17373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29216" y="2560320"/>
            <a:ext cx="14813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84080" y="3063240"/>
            <a:ext cx="13716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84080" y="3383280"/>
            <a:ext cx="11430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0" y="3657600"/>
            <a:ext cx="1005839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7840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5486400"/>
            <a:ext cx="17373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MOBILE / PANEL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03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Campaign consistency · Accessibility / 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142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48056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1148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Quality criterion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1148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Verify labels, contrast, focus or print legibility for the target audience.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0416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13001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046780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46430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6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77840" y="1691640"/>
            <a:ext cx="5806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011680"/>
            <a:ext cx="502920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CHECK → RECORD → REVISE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2788920"/>
            <a:ext cx="384048" cy="3840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788920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Readable content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3538727"/>
            <a:ext cx="384048" cy="384048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3538727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Clear action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89320" y="4288536"/>
            <a:ext cx="384048" cy="384048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88536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Recovery 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5349240"/>
            <a:ext cx="502920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300" b="0">
                <a:solidFill>
                  <a:srgbClr val="14263F"/>
                </a:solidFill>
                <a:latin typeface="Arial"/>
              </a:rPr>
              <a:t>Capture flyer to landing page as evidence.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03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Campaign consistency · Failure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143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F2A83A"/>
                </a:solidFill>
                <a:latin typeface="Arial"/>
              </a:rPr>
              <a:t>Observed defect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QR opens an unrelated generic page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321808"/>
            <a:ext cx="566928" cy="210312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Revised 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Maintain message and visual continuity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59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471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471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471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3784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24728" y="3200400"/>
            <a:ext cx="320040" cy="54864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3000" b="1">
                <a:solidFill>
                  <a:srgbClr val="1B5BA9"/>
                </a:solidFill>
                <a:latin typeface="Arial"/>
              </a:rPr>
              <a:t>›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03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Campaign consistency · Evidence to retain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144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Save initial flyer to landing page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Change: Maintain message and visual continuity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Retest same task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Keep export + evidence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04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Brochure sequencing ·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145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519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Scenario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Front promise → inside evidence → back contact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3484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1772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87375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093207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27608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1691640"/>
            <a:ext cx="5394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35040" y="1691640"/>
            <a:ext cx="73152" cy="42519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6207" y="1837944"/>
            <a:ext cx="50292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Design decision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7" y="2350008"/>
            <a:ext cx="50292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Plan panel order before export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54496" y="4434840"/>
            <a:ext cx="49560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55664" y="4617720"/>
            <a:ext cx="1942185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55664" y="4873752"/>
            <a:ext cx="366857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55664" y="5093207"/>
            <a:ext cx="296722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61320" y="5276088"/>
            <a:ext cx="566928" cy="21031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04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Brochure sequencing · Artifact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146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384048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347472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Working artifact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347472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tri-fold reading order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340156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382572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2611526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112264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1188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737360"/>
            <a:ext cx="6537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02352" y="1965960"/>
            <a:ext cx="6035040" cy="41148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0" y="2039112"/>
            <a:ext cx="512064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rial"/>
              </a:rPr>
              <a:t>Tri-Fold Reading Order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12080" y="2697480"/>
            <a:ext cx="20574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79792" y="2697480"/>
            <a:ext cx="333756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13248" y="2953512"/>
            <a:ext cx="16459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13248" y="3264408"/>
            <a:ext cx="1325880" cy="100584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99248" y="2953512"/>
            <a:ext cx="237744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99248" y="3337560"/>
            <a:ext cx="26060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99248" y="3630168"/>
            <a:ext cx="201168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99248" y="4297680"/>
            <a:ext cx="1508760" cy="39319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0" y="5349240"/>
            <a:ext cx="576072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200" b="0">
                <a:solidFill>
                  <a:srgbClr val="14263F"/>
                </a:solidFill>
                <a:latin typeface="Arial"/>
              </a:rPr>
              <a:t>Plan panel order before export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04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Brochure sequencing · Flow /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147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Front promise → inside evidence → back contact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tri-fold reading order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Plan panel order before export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Review evidence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04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Brochure sequencing · Design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148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663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2976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2976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Plan panel order before export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2245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78838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171139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56489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15000" y="2011680"/>
            <a:ext cx="5532120" cy="9144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221992"/>
            <a:ext cx="512064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0">
                <a:solidFill>
                  <a:srgbClr val="14263F"/>
                </a:solidFill>
                <a:latin typeface="Arial"/>
              </a:rPr>
              <a:t>Front promise → inside evidence → back contact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3063240"/>
            <a:ext cx="109728" cy="6400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0" y="3749039"/>
            <a:ext cx="5532120" cy="11430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023360"/>
            <a:ext cx="5120640" cy="640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1">
                <a:solidFill>
                  <a:srgbClr val="1B5BA9"/>
                </a:solidFill>
                <a:latin typeface="Arial"/>
              </a:rPr>
              <a:t>Inspect the tri-fold reading order against the rule.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04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Brochure sequencing · Responsive or print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607040" cy="5029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800" b="1">
                <a:solidFill>
                  <a:srgbClr val="14263F"/>
                </a:solidFill>
                <a:latin typeface="Arial"/>
              </a:rPr>
              <a:t>Inspect the tri-fold reading order across required formats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423160"/>
            <a:ext cx="53949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560320"/>
            <a:ext cx="51389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3063240"/>
            <a:ext cx="50292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3383280"/>
            <a:ext cx="48006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3657600"/>
            <a:ext cx="46634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486400"/>
            <a:ext cx="53949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DESKTOP / FULL SHEET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423160"/>
            <a:ext cx="292608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28816" y="2560320"/>
            <a:ext cx="267004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0" y="3063240"/>
            <a:ext cx="25603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0" y="3383280"/>
            <a:ext cx="233172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0" y="3657600"/>
            <a:ext cx="219456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486400"/>
            <a:ext cx="292608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TABLET / FOLDED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0" y="2423160"/>
            <a:ext cx="17373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29216" y="2560320"/>
            <a:ext cx="14813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84080" y="3063240"/>
            <a:ext cx="13716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84080" y="3383280"/>
            <a:ext cx="11430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0" y="3657600"/>
            <a:ext cx="1005839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7840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5486400"/>
            <a:ext cx="17373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MOBILE / PANEL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04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Brochure sequencing · Accessibility / 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150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48056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1148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Quality criterion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1148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Verify labels, contrast, focus or print legibility for the target audience.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0416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13001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046780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46430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6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77840" y="1691640"/>
            <a:ext cx="5806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011680"/>
            <a:ext cx="502920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CHECK → RECORD → REVISE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2788920"/>
            <a:ext cx="384048" cy="3840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788920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Readable content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3538727"/>
            <a:ext cx="384048" cy="384048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3538727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Clear action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89320" y="4288536"/>
            <a:ext cx="384048" cy="384048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88536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Recovery 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5349240"/>
            <a:ext cx="502920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300" b="0">
                <a:solidFill>
                  <a:srgbClr val="14263F"/>
                </a:solidFill>
                <a:latin typeface="Arial"/>
              </a:rPr>
              <a:t>Capture tri-fold reading order as evidence.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04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Brochure sequencing · Failure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151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F2A83A"/>
                </a:solidFill>
                <a:latin typeface="Arial"/>
              </a:rPr>
              <a:t>Observed defect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Panels read backward after folding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321808"/>
            <a:ext cx="566928" cy="210312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Revised 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Plan panel order before export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59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471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471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471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3784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24728" y="3200400"/>
            <a:ext cx="320040" cy="54864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3000" b="1">
                <a:solidFill>
                  <a:srgbClr val="1B5BA9"/>
                </a:solidFill>
                <a:latin typeface="Arial"/>
              </a:rPr>
              <a:t>›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3 / LAB 04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Brochure sequencing · Evidence to retain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152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Save initial tri-fold reading order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Change: Plan panel order before export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Retest same task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Keep export + evidence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04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Long-form content ·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153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519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Scenario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Benefits, schedule, accessibility and registration need scannable sections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3484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1772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87375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093207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27608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1691640"/>
            <a:ext cx="5394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35040" y="1691640"/>
            <a:ext cx="73152" cy="42519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6207" y="1837944"/>
            <a:ext cx="50292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Design decision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7" y="2350008"/>
            <a:ext cx="50292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Separate promises from factual logistics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54496" y="4434840"/>
            <a:ext cx="49560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55664" y="4617720"/>
            <a:ext cx="1942185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55664" y="4873752"/>
            <a:ext cx="366857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55664" y="5093207"/>
            <a:ext cx="296722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61320" y="5276088"/>
            <a:ext cx="566928" cy="21031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04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Long-form content · Artifact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154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384048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347472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Working artifact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347472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programme brochure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340156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382572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2611526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112264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1188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737360"/>
            <a:ext cx="6537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02352" y="1965960"/>
            <a:ext cx="6035040" cy="41148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0" y="2039112"/>
            <a:ext cx="512064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rial"/>
              </a:rPr>
              <a:t>Programme Brochure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12080" y="2697480"/>
            <a:ext cx="20574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79792" y="2697480"/>
            <a:ext cx="333756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13248" y="2953512"/>
            <a:ext cx="16459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13248" y="3264408"/>
            <a:ext cx="1325880" cy="100584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99248" y="2953512"/>
            <a:ext cx="237744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99248" y="3337560"/>
            <a:ext cx="26060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99248" y="3630168"/>
            <a:ext cx="201168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99248" y="4297680"/>
            <a:ext cx="1508760" cy="39319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0" y="5349240"/>
            <a:ext cx="576072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200" b="0">
                <a:solidFill>
                  <a:srgbClr val="14263F"/>
                </a:solidFill>
                <a:latin typeface="Arial"/>
              </a:rPr>
              <a:t>Separate promises from factual logistics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04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Long-form content · Flow /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155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Benefits, schedule, accessibility and registration need scannable sect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programme brochure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Separate promises from factual logistics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Review evidence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04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Long-form content · Design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156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663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2976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2976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Separate promises from factual logistics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2245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78838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171139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56489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15000" y="2011680"/>
            <a:ext cx="5532120" cy="9144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221992"/>
            <a:ext cx="512064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0">
                <a:solidFill>
                  <a:srgbClr val="14263F"/>
                </a:solidFill>
                <a:latin typeface="Arial"/>
              </a:rPr>
              <a:t>Benefits, schedule, accessibility and registration need scannable sections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3063240"/>
            <a:ext cx="109728" cy="6400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0" y="3749039"/>
            <a:ext cx="5532120" cy="11430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023360"/>
            <a:ext cx="5120640" cy="640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1">
                <a:solidFill>
                  <a:srgbClr val="1B5BA9"/>
                </a:solidFill>
                <a:latin typeface="Arial"/>
              </a:rPr>
              <a:t>Inspect the programme brochure against the rule.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04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Long-form content · Responsive or print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157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607040" cy="5029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800" b="1">
                <a:solidFill>
                  <a:srgbClr val="14263F"/>
                </a:solidFill>
                <a:latin typeface="Arial"/>
              </a:rPr>
              <a:t>Inspect the programme brochure across required formats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423160"/>
            <a:ext cx="53949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560320"/>
            <a:ext cx="51389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3063240"/>
            <a:ext cx="50292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3383280"/>
            <a:ext cx="48006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3657600"/>
            <a:ext cx="46634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486400"/>
            <a:ext cx="53949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DESKTOP / FULL SHEET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423160"/>
            <a:ext cx="292608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28816" y="2560320"/>
            <a:ext cx="267004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0" y="3063240"/>
            <a:ext cx="25603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0" y="3383280"/>
            <a:ext cx="233172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0" y="3657600"/>
            <a:ext cx="219456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486400"/>
            <a:ext cx="292608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TABLET / FOLDED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0" y="2423160"/>
            <a:ext cx="17373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29216" y="2560320"/>
            <a:ext cx="14813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84080" y="3063240"/>
            <a:ext cx="13716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84080" y="3383280"/>
            <a:ext cx="11430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0" y="3657600"/>
            <a:ext cx="1005839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7840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5486400"/>
            <a:ext cx="17373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MOBILE / PANEL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04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Long-form content · Accessibility / 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158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48056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1148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Quality criterion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1148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Verify labels, contrast, focus or print legibility for the target audience.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0416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13001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046780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46430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6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77840" y="1691640"/>
            <a:ext cx="5806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011680"/>
            <a:ext cx="502920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CHECK → RECORD → REVISE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2788920"/>
            <a:ext cx="384048" cy="3840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788920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Readable content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3538727"/>
            <a:ext cx="384048" cy="384048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3538727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Clear action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89320" y="4288536"/>
            <a:ext cx="384048" cy="384048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88536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Recovery 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5349240"/>
            <a:ext cx="502920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300" b="0">
                <a:solidFill>
                  <a:srgbClr val="14263F"/>
                </a:solidFill>
                <a:latin typeface="Arial"/>
              </a:rPr>
              <a:t>Capture programme brochure as evidence.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04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Long-form content · Failure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159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F2A83A"/>
                </a:solidFill>
                <a:latin typeface="Arial"/>
              </a:rPr>
              <a:t>Observed defect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Dense wall of 9-point copy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321808"/>
            <a:ext cx="566928" cy="210312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Revised 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Separate promises from factual logistics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59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471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471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471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3784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24728" y="3200400"/>
            <a:ext cx="320040" cy="54864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3000" b="1">
                <a:solidFill>
                  <a:srgbClr val="1B5BA9"/>
                </a:solidFill>
                <a:latin typeface="Arial"/>
              </a:rPr>
              <a:t>›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04 /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Long-form content · Evidence to retain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160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Save initial programme brochure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Change: Separate promises from factual logistics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Retest same task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Keep export + evidence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05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Design-system import ·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161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519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Scenario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Upload brand PDF and component screenshots, review extracted tokens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3484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1772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87375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093207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27608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1691640"/>
            <a:ext cx="5394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35040" y="1691640"/>
            <a:ext cx="73152" cy="42519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6207" y="1837944"/>
            <a:ext cx="50292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Design decision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7" y="2350008"/>
            <a:ext cx="50292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Correct extracted color and typography before publishing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54496" y="4434840"/>
            <a:ext cx="49560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55664" y="4617720"/>
            <a:ext cx="1942185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55664" y="4873752"/>
            <a:ext cx="366857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55664" y="5093207"/>
            <a:ext cx="296722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61320" y="5276088"/>
            <a:ext cx="566928" cy="21031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05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Design-system import · Artifact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162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384048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347472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Working artifact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347472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Claude Design UI kit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340156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382572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2611526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112264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1188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737360"/>
            <a:ext cx="6537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02352" y="1965960"/>
            <a:ext cx="6035040" cy="41148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0" y="2039112"/>
            <a:ext cx="512064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rial"/>
              </a:rPr>
              <a:t>Claude Design Ui Kit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12080" y="2697480"/>
            <a:ext cx="20574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79792" y="2697480"/>
            <a:ext cx="333756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13248" y="2953512"/>
            <a:ext cx="16459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13248" y="3264408"/>
            <a:ext cx="1325880" cy="100584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99248" y="2953512"/>
            <a:ext cx="237744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99248" y="3337560"/>
            <a:ext cx="26060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99248" y="3630168"/>
            <a:ext cx="201168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99248" y="4297680"/>
            <a:ext cx="1508760" cy="39319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0" y="5349240"/>
            <a:ext cx="576072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200" b="0">
                <a:solidFill>
                  <a:srgbClr val="14263F"/>
                </a:solidFill>
                <a:latin typeface="Arial"/>
              </a:rPr>
              <a:t>Correct extracted color and typography before publishing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05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Design-system import · Flow /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163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Upload brand PDF and component screenshots, review extracted tokens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Claude Design UI kit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Correct extracted color and typography before publishing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Review evidence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05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Design-system import · Design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164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663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2976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2976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Correct extracted color and typography before publishing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2245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78838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171139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56489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15000" y="2011680"/>
            <a:ext cx="5532120" cy="9144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221992"/>
            <a:ext cx="512064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0">
                <a:solidFill>
                  <a:srgbClr val="14263F"/>
                </a:solidFill>
                <a:latin typeface="Arial"/>
              </a:rPr>
              <a:t>Upload brand PDF and component screenshots, review extracted tokens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3063240"/>
            <a:ext cx="109728" cy="6400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0" y="3749039"/>
            <a:ext cx="5532120" cy="11430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023360"/>
            <a:ext cx="5120640" cy="640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1">
                <a:solidFill>
                  <a:srgbClr val="1B5BA9"/>
                </a:solidFill>
                <a:latin typeface="Arial"/>
              </a:rPr>
              <a:t>Inspect the Claude Design UI kit against the rule.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05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Design-system import · Responsive or print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165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607040" cy="5029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800" b="1">
                <a:solidFill>
                  <a:srgbClr val="14263F"/>
                </a:solidFill>
                <a:latin typeface="Arial"/>
              </a:rPr>
              <a:t>Inspect the Claude Design UI kit across required formats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423160"/>
            <a:ext cx="53949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560320"/>
            <a:ext cx="51389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3063240"/>
            <a:ext cx="50292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3383280"/>
            <a:ext cx="48006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3657600"/>
            <a:ext cx="46634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486400"/>
            <a:ext cx="53949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DESKTOP / FULL SHEET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423160"/>
            <a:ext cx="292608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28816" y="2560320"/>
            <a:ext cx="267004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0" y="3063240"/>
            <a:ext cx="25603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0" y="3383280"/>
            <a:ext cx="233172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0" y="3657600"/>
            <a:ext cx="219456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486400"/>
            <a:ext cx="292608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TABLET / FOLDED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0" y="2423160"/>
            <a:ext cx="17373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29216" y="2560320"/>
            <a:ext cx="14813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84080" y="3063240"/>
            <a:ext cx="13716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84080" y="3383280"/>
            <a:ext cx="11430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0" y="3657600"/>
            <a:ext cx="1005839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7840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5486400"/>
            <a:ext cx="17373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MOBILE / PANEL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05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Design-system import · Accessibility / 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166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48056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1148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Quality criterion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1148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Verify labels, contrast, focus or print legibility for the target audience.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0416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13001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046780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46430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6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77840" y="1691640"/>
            <a:ext cx="5806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011680"/>
            <a:ext cx="502920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CHECK → RECORD → REVISE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2788920"/>
            <a:ext cx="384048" cy="3840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788920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Readable content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3538727"/>
            <a:ext cx="384048" cy="384048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3538727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Clear action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89320" y="4288536"/>
            <a:ext cx="384048" cy="384048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88536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Recovery 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5349240"/>
            <a:ext cx="502920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300" b="0">
                <a:solidFill>
                  <a:srgbClr val="14263F"/>
                </a:solidFill>
                <a:latin typeface="Arial"/>
              </a:rPr>
              <a:t>Capture Claude Design UI kit as evidence.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05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Design-system import · Failure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167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F2A83A"/>
                </a:solidFill>
                <a:latin typeface="Arial"/>
              </a:rPr>
              <a:t>Observed defect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Publishing an unreviewed extraction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321808"/>
            <a:ext cx="566928" cy="210312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Revised 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Correct extracted color and typography before publishing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59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471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471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471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3784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24728" y="3200400"/>
            <a:ext cx="320040" cy="54864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3000" b="1">
                <a:solidFill>
                  <a:srgbClr val="1B5BA9"/>
                </a:solidFill>
                <a:latin typeface="Arial"/>
              </a:rPr>
              <a:t>›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05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Design-system import · Evidence to retain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168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Save initial Claude Design UI kit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Change: Correct extracted color and typography before pu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Retest same task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Keep export + evidence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05 /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Component variants ·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169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519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Scenario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Primary, secondary, disabled and loading variants share geometry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3484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1772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87375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093207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27608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1691640"/>
            <a:ext cx="5394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35040" y="1691640"/>
            <a:ext cx="73152" cy="42519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6207" y="1837944"/>
            <a:ext cx="50292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Design decision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7" y="2350008"/>
            <a:ext cx="50292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Document variants and use cases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54496" y="4434840"/>
            <a:ext cx="49560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55664" y="4617720"/>
            <a:ext cx="1942185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55664" y="4873752"/>
            <a:ext cx="366857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55664" y="5093207"/>
            <a:ext cx="296722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61320" y="5276088"/>
            <a:ext cx="566928" cy="21031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05 /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Component variants · Artifact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170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384048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347472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Working artifact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347472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design-system button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340156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382572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2611526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112264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1188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737360"/>
            <a:ext cx="6537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02352" y="1965960"/>
            <a:ext cx="6035040" cy="41148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0" y="2039112"/>
            <a:ext cx="512064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rial"/>
              </a:rPr>
              <a:t>Design-System Button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12080" y="2697480"/>
            <a:ext cx="20574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79792" y="2697480"/>
            <a:ext cx="333756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13248" y="2953512"/>
            <a:ext cx="16459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13248" y="3264408"/>
            <a:ext cx="1325880" cy="100584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99248" y="2953512"/>
            <a:ext cx="237744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99248" y="3337560"/>
            <a:ext cx="26060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99248" y="3630168"/>
            <a:ext cx="201168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99248" y="4297680"/>
            <a:ext cx="1508760" cy="39319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0" y="5349240"/>
            <a:ext cx="576072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200" b="0">
                <a:solidFill>
                  <a:srgbClr val="14263F"/>
                </a:solidFill>
                <a:latin typeface="Arial"/>
              </a:rPr>
              <a:t>Document variants and use cases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05 /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Component variants · Flow /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171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Primary, secondary, disabled and loading variants share geometry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design-system button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Document variants and use cases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Review evidence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05 /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Component variants · Design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172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663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2976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2976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Document variants and use cases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2245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78838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171139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56489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15000" y="2011680"/>
            <a:ext cx="5532120" cy="9144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221992"/>
            <a:ext cx="512064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0">
                <a:solidFill>
                  <a:srgbClr val="14263F"/>
                </a:solidFill>
                <a:latin typeface="Arial"/>
              </a:rPr>
              <a:t>Primary, secondary, disabled and loading variants share geometry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3063240"/>
            <a:ext cx="109728" cy="6400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0" y="3749039"/>
            <a:ext cx="5532120" cy="11430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023360"/>
            <a:ext cx="5120640" cy="640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1">
                <a:solidFill>
                  <a:srgbClr val="1B5BA9"/>
                </a:solidFill>
                <a:latin typeface="Arial"/>
              </a:rPr>
              <a:t>Inspect the design-system button against the rule.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05 /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Component variants · Responsive or print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607040" cy="5029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800" b="1">
                <a:solidFill>
                  <a:srgbClr val="14263F"/>
                </a:solidFill>
                <a:latin typeface="Arial"/>
              </a:rPr>
              <a:t>Inspect the design-system button across required formats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423160"/>
            <a:ext cx="53949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560320"/>
            <a:ext cx="51389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3063240"/>
            <a:ext cx="50292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3383280"/>
            <a:ext cx="48006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3657600"/>
            <a:ext cx="46634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486400"/>
            <a:ext cx="53949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DESKTOP / FULL SHEET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423160"/>
            <a:ext cx="292608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28816" y="2560320"/>
            <a:ext cx="267004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0" y="3063240"/>
            <a:ext cx="25603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0" y="3383280"/>
            <a:ext cx="233172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0" y="3657600"/>
            <a:ext cx="219456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486400"/>
            <a:ext cx="292608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TABLET / FOLDED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0" y="2423160"/>
            <a:ext cx="17373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29216" y="2560320"/>
            <a:ext cx="14813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84080" y="3063240"/>
            <a:ext cx="13716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84080" y="3383280"/>
            <a:ext cx="11430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0" y="3657600"/>
            <a:ext cx="1005839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7840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5486400"/>
            <a:ext cx="17373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MOBILE / PANEL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05 /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Component variants · Accessibility / 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174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48056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1148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Quality criterion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1148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Verify labels, contrast, focus or print legibility for the target audience.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0416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13001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046780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46430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6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77840" y="1691640"/>
            <a:ext cx="5806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011680"/>
            <a:ext cx="502920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CHECK → RECORD → REVISE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2788920"/>
            <a:ext cx="384048" cy="3840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788920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Readable content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3538727"/>
            <a:ext cx="384048" cy="384048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3538727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Clear action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89320" y="4288536"/>
            <a:ext cx="384048" cy="384048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88536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Recovery 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5349240"/>
            <a:ext cx="502920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300" b="0">
                <a:solidFill>
                  <a:srgbClr val="14263F"/>
                </a:solidFill>
                <a:latin typeface="Arial"/>
              </a:rPr>
              <a:t>Capture design-system button as evidence.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05 /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Component variants · Failure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175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F2A83A"/>
                </a:solidFill>
                <a:latin typeface="Arial"/>
              </a:rPr>
              <a:t>Observed defect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One button style used for every state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321808"/>
            <a:ext cx="566928" cy="210312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Revised 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Document variants and use cases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59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471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471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471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3784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24728" y="3200400"/>
            <a:ext cx="320040" cy="54864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3000" b="1">
                <a:solidFill>
                  <a:srgbClr val="1B5BA9"/>
                </a:solidFill>
                <a:latin typeface="Arial"/>
              </a:rPr>
              <a:t>›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05 /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Component variants · Evidence to retain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176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Save initial design-system button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Change: Document variants and use cases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Retest same task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Keep export + evidence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06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Usability metrics ·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177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519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Scenario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Success 4/5, median 42 s, 2 critical errors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3484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1772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87375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093207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27608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1691640"/>
            <a:ext cx="5394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35040" y="1691640"/>
            <a:ext cx="73152" cy="42519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6207" y="1837944"/>
            <a:ext cx="50292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Design decision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7" y="2350008"/>
            <a:ext cx="50292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Use predefined success and error rules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54496" y="4434840"/>
            <a:ext cx="49560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55664" y="4617720"/>
            <a:ext cx="1942185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55664" y="4873752"/>
            <a:ext cx="366857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55664" y="5093207"/>
            <a:ext cx="296722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61320" y="5276088"/>
            <a:ext cx="566928" cy="21031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06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Usability metrics · Artifact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178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384048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347472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Working artifact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347472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task 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340156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382572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2611526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112264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1188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737360"/>
            <a:ext cx="6537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02352" y="1965960"/>
            <a:ext cx="6035040" cy="41148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0" y="2039112"/>
            <a:ext cx="512064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rial"/>
              </a:rPr>
              <a:t>Task Test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12080" y="2697480"/>
            <a:ext cx="20574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79792" y="2697480"/>
            <a:ext cx="333756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13248" y="2953512"/>
            <a:ext cx="16459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13248" y="3264408"/>
            <a:ext cx="1325880" cy="100584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99248" y="2953512"/>
            <a:ext cx="237744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99248" y="3337560"/>
            <a:ext cx="26060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99248" y="3630168"/>
            <a:ext cx="201168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99248" y="4297680"/>
            <a:ext cx="1508760" cy="39319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0" y="5349240"/>
            <a:ext cx="576072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200" b="0">
                <a:solidFill>
                  <a:srgbClr val="14263F"/>
                </a:solidFill>
                <a:latin typeface="Arial"/>
              </a:rPr>
              <a:t>Use predefined success and error rules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06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Usability metrics · Flow /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179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Success 4/5, median 42 s, 2 critical errors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task 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Use predefined success and error rules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Review evidence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06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Usability metrics · Design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180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663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2976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2976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Use predefined success and error rules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2245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78838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171139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56489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15000" y="2011680"/>
            <a:ext cx="5532120" cy="9144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221992"/>
            <a:ext cx="512064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0">
                <a:solidFill>
                  <a:srgbClr val="14263F"/>
                </a:solidFill>
                <a:latin typeface="Arial"/>
              </a:rPr>
              <a:t>Success 4/5, median 42 s, 2 critical errors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3063240"/>
            <a:ext cx="109728" cy="6400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0" y="3749039"/>
            <a:ext cx="5532120" cy="11430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023360"/>
            <a:ext cx="5120640" cy="640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1">
                <a:solidFill>
                  <a:srgbClr val="1B5BA9"/>
                </a:solidFill>
                <a:latin typeface="Arial"/>
              </a:rPr>
              <a:t>Inspect the task test against the rule.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06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Usability metrics · Responsive or print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181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607040" cy="5029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800" b="1">
                <a:solidFill>
                  <a:srgbClr val="14263F"/>
                </a:solidFill>
                <a:latin typeface="Arial"/>
              </a:rPr>
              <a:t>Inspect the task test across required formats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423160"/>
            <a:ext cx="53949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560320"/>
            <a:ext cx="51389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3063240"/>
            <a:ext cx="50292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3383280"/>
            <a:ext cx="48006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3657600"/>
            <a:ext cx="46634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486400"/>
            <a:ext cx="53949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DESKTOP / FULL SHEET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423160"/>
            <a:ext cx="292608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28816" y="2560320"/>
            <a:ext cx="267004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0" y="3063240"/>
            <a:ext cx="25603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0" y="3383280"/>
            <a:ext cx="233172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0" y="3657600"/>
            <a:ext cx="219456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486400"/>
            <a:ext cx="292608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TABLET / FOLDED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0" y="2423160"/>
            <a:ext cx="17373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29216" y="2560320"/>
            <a:ext cx="14813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84080" y="3063240"/>
            <a:ext cx="13716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84080" y="3383280"/>
            <a:ext cx="11430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0" y="3657600"/>
            <a:ext cx="1005839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7840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5486400"/>
            <a:ext cx="17373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MOBILE / PANEL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06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Usability metrics · Accessibility / 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182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48056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1148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Quality criterion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1148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Verify labels, contrast, focus or print legibility for the target audience.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0416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13001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046780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46430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6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77840" y="1691640"/>
            <a:ext cx="5806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011680"/>
            <a:ext cx="502920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CHECK → RECORD → REVISE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2788920"/>
            <a:ext cx="384048" cy="3840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788920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Readable content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3538727"/>
            <a:ext cx="384048" cy="384048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3538727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Clear action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89320" y="4288536"/>
            <a:ext cx="384048" cy="384048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88536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Recovery 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5349240"/>
            <a:ext cx="502920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300" b="0">
                <a:solidFill>
                  <a:srgbClr val="14263F"/>
                </a:solidFill>
                <a:latin typeface="Arial"/>
              </a:rPr>
              <a:t>Capture task test as evidence.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06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Usability metrics · Failure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183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F2A83A"/>
                </a:solidFill>
                <a:latin typeface="Arial"/>
              </a:rPr>
              <a:t>Observed defect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Reporting only that testers liked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321808"/>
            <a:ext cx="566928" cy="210312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Revised 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Use predefined success and error rules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59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471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471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471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3784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24728" y="3200400"/>
            <a:ext cx="320040" cy="54864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3000" b="1">
                <a:solidFill>
                  <a:srgbClr val="1B5BA9"/>
                </a:solidFill>
                <a:latin typeface="Arial"/>
              </a:rPr>
              <a:t>›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06 /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Usability metrics · Evidence to retain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184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Save initial task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Change: Use predefined success and error 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Retest same task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Keep export + evidence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06 / 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Iteration evidence ·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185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519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Scenario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Before 3/5 completion; after 5/5 on the same task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3484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1772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87375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093207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27608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1691640"/>
            <a:ext cx="5394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35040" y="1691640"/>
            <a:ext cx="73152" cy="42519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6207" y="1837944"/>
            <a:ext cx="50292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Design decision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7" y="2350008"/>
            <a:ext cx="50292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Record change, test conditions and result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54496" y="4434840"/>
            <a:ext cx="49560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55664" y="4617720"/>
            <a:ext cx="1942185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55664" y="4873752"/>
            <a:ext cx="366857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55664" y="5093207"/>
            <a:ext cx="296722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61320" y="5276088"/>
            <a:ext cx="566928" cy="21031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06 / 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Iteration evidence · Artifact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186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384048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347472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Working artifact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347472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before/after comparison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340156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382572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2611526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112264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1188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737360"/>
            <a:ext cx="6537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02352" y="1965960"/>
            <a:ext cx="6035040" cy="41148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0" y="2039112"/>
            <a:ext cx="512064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rial"/>
              </a:rPr>
              <a:t>Before/After Comparison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12080" y="2697480"/>
            <a:ext cx="20574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79792" y="2697480"/>
            <a:ext cx="333756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13248" y="2953512"/>
            <a:ext cx="16459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13248" y="3264408"/>
            <a:ext cx="1325880" cy="100584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99248" y="2953512"/>
            <a:ext cx="237744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99248" y="3337560"/>
            <a:ext cx="26060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99248" y="3630168"/>
            <a:ext cx="201168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99248" y="4297680"/>
            <a:ext cx="1508760" cy="39319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0" y="5349240"/>
            <a:ext cx="576072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200" b="0">
                <a:solidFill>
                  <a:srgbClr val="14263F"/>
                </a:solidFill>
                <a:latin typeface="Arial"/>
              </a:rPr>
              <a:t>Record change, test conditions and result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06 / 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Iteration evidence · Flow /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187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Before 3/5 completion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before/after comparison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Record change, test conditions and result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Review evidence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06 / 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Iteration evidence · Design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188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663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2976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2976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Record change, test conditions and result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2245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78838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171139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56489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15000" y="2011680"/>
            <a:ext cx="5532120" cy="9144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221992"/>
            <a:ext cx="512064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0">
                <a:solidFill>
                  <a:srgbClr val="14263F"/>
                </a:solidFill>
                <a:latin typeface="Arial"/>
              </a:rPr>
              <a:t>Before 3/5 completion; after 5/5 on the same task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3063240"/>
            <a:ext cx="109728" cy="6400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0" y="3749039"/>
            <a:ext cx="5532120" cy="11430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023360"/>
            <a:ext cx="5120640" cy="640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1">
                <a:solidFill>
                  <a:srgbClr val="1B5BA9"/>
                </a:solidFill>
                <a:latin typeface="Arial"/>
              </a:rPr>
              <a:t>Inspect the before/after comparison against the rule.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06 / 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Iteration evidence · Responsive or print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189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607040" cy="5029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800" b="1">
                <a:solidFill>
                  <a:srgbClr val="14263F"/>
                </a:solidFill>
                <a:latin typeface="Arial"/>
              </a:rPr>
              <a:t>Inspect the before/after comparison across required formats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423160"/>
            <a:ext cx="53949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560320"/>
            <a:ext cx="51389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3063240"/>
            <a:ext cx="50292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3383280"/>
            <a:ext cx="48006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3657600"/>
            <a:ext cx="46634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486400"/>
            <a:ext cx="53949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DESKTOP / FULL SHEET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423160"/>
            <a:ext cx="292608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28816" y="2560320"/>
            <a:ext cx="267004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0" y="3063240"/>
            <a:ext cx="25603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0" y="3383280"/>
            <a:ext cx="233172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0" y="3657600"/>
            <a:ext cx="219456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486400"/>
            <a:ext cx="292608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TABLET / FOLDED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0" y="2423160"/>
            <a:ext cx="17373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29216" y="2560320"/>
            <a:ext cx="14813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84080" y="3063240"/>
            <a:ext cx="13716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84080" y="3383280"/>
            <a:ext cx="11430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0" y="3657600"/>
            <a:ext cx="1005839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7840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5486400"/>
            <a:ext cx="17373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MOBILE / PANEL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06 / 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Iteration evidence · Accessibility / 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190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48056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1148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Quality criterion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1148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Verify labels, contrast, focus or print legibility for the target audience.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0416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13001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046780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46430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6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77840" y="1691640"/>
            <a:ext cx="5806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011680"/>
            <a:ext cx="502920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CHECK → RECORD → REVISE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2788920"/>
            <a:ext cx="384048" cy="3840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788920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Readable content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3538727"/>
            <a:ext cx="384048" cy="384048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3538727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Clear action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89320" y="4288536"/>
            <a:ext cx="384048" cy="384048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88536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Recovery 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5349240"/>
            <a:ext cx="502920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300" b="0">
                <a:solidFill>
                  <a:srgbClr val="14263F"/>
                </a:solidFill>
                <a:latin typeface="Arial"/>
              </a:rPr>
              <a:t>Capture before/after comparison as evidence.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06 / 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Iteration evidence · Failure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191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F2A83A"/>
                </a:solidFill>
                <a:latin typeface="Arial"/>
              </a:rPr>
              <a:t>Observed defect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Claiming improvement from an untested mockup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321808"/>
            <a:ext cx="566928" cy="210312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Revised 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Record change, test conditions and result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59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471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471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471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3784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24728" y="3200400"/>
            <a:ext cx="320040" cy="54864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3000" b="1">
                <a:solidFill>
                  <a:srgbClr val="1B5BA9"/>
                </a:solidFill>
                <a:latin typeface="Arial"/>
              </a:rPr>
              <a:t>›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06 / 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Iteration evidence · Evidence to retain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192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Save initial before/after comparison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Change: Record change, test conditions and 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Retest same task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Keep export + evidence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06 /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Handoff package · Mechanism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193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519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Scenario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HTML/PDF exports plus tokens, states, assets and change log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3484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1772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87375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093207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27608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1691640"/>
            <a:ext cx="5394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35040" y="1691640"/>
            <a:ext cx="73152" cy="42519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36207" y="1837944"/>
            <a:ext cx="50292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Design decision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7" y="2350008"/>
            <a:ext cx="50292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Package artifacts with acceptance criteria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54496" y="4434840"/>
            <a:ext cx="49560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55664" y="4617720"/>
            <a:ext cx="1942185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55664" y="4873752"/>
            <a:ext cx="366857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55664" y="5093207"/>
            <a:ext cx="296722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61320" y="5276088"/>
            <a:ext cx="566928" cy="21031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06 /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Handoff package · Artifact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194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384048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347472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Working artifact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347472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export and documentation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340156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382572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2611526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112264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1188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46320" y="1737360"/>
            <a:ext cx="6537960" cy="42519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02352" y="1965960"/>
            <a:ext cx="6035040" cy="41148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0" y="2039112"/>
            <a:ext cx="512064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rial"/>
              </a:rPr>
              <a:t>Export And Documentation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12080" y="2697480"/>
            <a:ext cx="205740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79792" y="2697480"/>
            <a:ext cx="3337560" cy="2468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13248" y="2953512"/>
            <a:ext cx="16459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13248" y="3264408"/>
            <a:ext cx="1325880" cy="100584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99248" y="2953512"/>
            <a:ext cx="237744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99248" y="3337560"/>
            <a:ext cx="26060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99248" y="3630168"/>
            <a:ext cx="201168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699248" y="4297680"/>
            <a:ext cx="1508760" cy="39319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12080" y="5349240"/>
            <a:ext cx="576072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200" b="0">
                <a:solidFill>
                  <a:srgbClr val="14263F"/>
                </a:solidFill>
                <a:latin typeface="Arial"/>
              </a:rPr>
              <a:t>Package artifacts with acceptance criteria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06 /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Handoff package · Flow /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195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HTML/PDF exports plus tokens, states, assets and change log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export and documentation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Package artifacts with acceptance criteria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Review evidence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06 /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Handoff package · Design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196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663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2976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Rule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2976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Package artifacts with acceptance criteria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2245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78838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171139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56489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715000" y="2011680"/>
            <a:ext cx="5532120" cy="9144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221992"/>
            <a:ext cx="512064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0">
                <a:solidFill>
                  <a:srgbClr val="14263F"/>
                </a:solidFill>
                <a:latin typeface="Arial"/>
              </a:rPr>
              <a:t>HTML/PDF exports plus tokens, states, assets and change log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3063240"/>
            <a:ext cx="109728" cy="6400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15000" y="3749039"/>
            <a:ext cx="5532120" cy="114300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023360"/>
            <a:ext cx="5120640" cy="640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1">
                <a:solidFill>
                  <a:srgbClr val="1B5BA9"/>
                </a:solidFill>
                <a:latin typeface="Arial"/>
              </a:rPr>
              <a:t>Inspect the export and documentation against the rule.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06 /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Handoff package · Responsive or print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197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607040" cy="5029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800" b="1">
                <a:solidFill>
                  <a:srgbClr val="14263F"/>
                </a:solidFill>
                <a:latin typeface="Arial"/>
              </a:rPr>
              <a:t>Inspect the export and documentation across required formats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423160"/>
            <a:ext cx="53949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9536" y="2560320"/>
            <a:ext cx="51389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3063240"/>
            <a:ext cx="50292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3383280"/>
            <a:ext cx="48006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3657600"/>
            <a:ext cx="466344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486400"/>
            <a:ext cx="53949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DESKTOP / FULL SHEET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423160"/>
            <a:ext cx="292608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28816" y="2560320"/>
            <a:ext cx="267004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0" y="3063240"/>
            <a:ext cx="256032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0" y="3383280"/>
            <a:ext cx="233172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0" y="3657600"/>
            <a:ext cx="219456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486400"/>
            <a:ext cx="292608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TABLET / FOLDED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0" y="2423160"/>
            <a:ext cx="1737360" cy="28803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29216" y="2560320"/>
            <a:ext cx="1481328" cy="237744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84080" y="3063240"/>
            <a:ext cx="1371600" cy="1554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84080" y="3383280"/>
            <a:ext cx="1143000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84080" y="3657600"/>
            <a:ext cx="1005839" cy="91440"/>
          </a:xfrm>
          <a:prstGeom prst="rect">
            <a:avLst/>
          </a:prstGeom>
          <a:solidFill>
            <a:srgbClr val="556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784080" y="4251960"/>
            <a:ext cx="1188720" cy="329184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5486400"/>
            <a:ext cx="173736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1B5BA9"/>
                </a:solidFill>
                <a:latin typeface="Arial"/>
              </a:rPr>
              <a:t>MOBILE / PANEL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06 /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Handoff package · Accessibility / 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198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448056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1148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Quality criterion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1148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Verify labels, contrast, focus or print legibility for the target audience.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0416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613001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046780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46430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6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77840" y="1691640"/>
            <a:ext cx="58064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2011680"/>
            <a:ext cx="5029200" cy="36576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CHECK → RECORD → REVISE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2788920"/>
            <a:ext cx="384048" cy="384048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788920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Readable content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3538727"/>
            <a:ext cx="384048" cy="384048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3538727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Clear action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89320" y="4288536"/>
            <a:ext cx="384048" cy="384048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88536"/>
            <a:ext cx="448056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700" b="0">
                <a:solidFill>
                  <a:srgbClr val="14263F"/>
                </a:solidFill>
                <a:latin typeface="Arial"/>
              </a:rPr>
              <a:t>Recovery 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5349240"/>
            <a:ext cx="5029200" cy="4572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300" b="0">
                <a:solidFill>
                  <a:srgbClr val="14263F"/>
                </a:solidFill>
                <a:latin typeface="Arial"/>
              </a:rPr>
              <a:t>Capture export and documentation as evidence.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06 /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Handoff package · Failure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199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91640"/>
            <a:ext cx="73152" cy="4297680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F2A83A"/>
                </a:solidFill>
                <a:latin typeface="Arial"/>
              </a:rPr>
              <a:t>Observed defect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Sending an image without interaction notes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95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07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607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607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892040" y="5321808"/>
            <a:ext cx="566928" cy="210312"/>
          </a:xfrm>
          <a:prstGeom prst="rect">
            <a:avLst/>
          </a:prstGeom>
          <a:solidFill>
            <a:srgbClr val="F2A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120640" cy="42976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73152" cy="429768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37944"/>
            <a:ext cx="47548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Revised 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7648" y="2350008"/>
            <a:ext cx="47548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Package artifacts with acceptance criteria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5936" y="4480560"/>
            <a:ext cx="46817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47104" y="4663440"/>
            <a:ext cx="1843430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47104" y="4919472"/>
            <a:ext cx="3482035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47104" y="5138928"/>
            <a:ext cx="281635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378440" y="5321808"/>
            <a:ext cx="566928" cy="210312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24728" y="3200400"/>
            <a:ext cx="320040" cy="54864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3000" b="1">
                <a:solidFill>
                  <a:srgbClr val="1B5BA9"/>
                </a:solidFill>
                <a:latin typeface="Arial"/>
              </a:rPr>
              <a:t>›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TOPIC 4 / LAB 06 /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Handoff package · Evidence to retain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200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Save initial export and documentation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Change: Package artifacts with acceptance criteria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Retest same task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Keep export + evidence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CONCEPT VISUAL / PROJECT ASSET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Festival flyer · visual hierarchy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201</a:t>
            </a:r>
          </a:p>
        </p:txBody>
      </p:sp>
      <p:pic>
        <p:nvPicPr>
          <p:cNvPr id="8" name="Picture 7" descr="festival-ph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6583680" cy="44805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79" y="1645920"/>
            <a:ext cx="4023360" cy="44805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79" y="1645920"/>
            <a:ext cx="73152" cy="44805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99248" y="1792224"/>
            <a:ext cx="36576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Design 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99248" y="2304288"/>
            <a:ext cx="36576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Headline, date and registration must sit in the A5 safe zone.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17536" y="4617720"/>
            <a:ext cx="35844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18704" y="4800600"/>
            <a:ext cx="1448409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18704" y="5056632"/>
            <a:ext cx="2735884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18704" y="5276088"/>
            <a:ext cx="221284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652760" y="5458968"/>
            <a:ext cx="566928" cy="21031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CONCEPT VISUAL / PROJECT ASSET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Programme brochure · panel sequence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202</a:t>
            </a:r>
          </a:p>
        </p:txBody>
      </p:sp>
      <p:pic>
        <p:nvPicPr>
          <p:cNvPr id="8" name="Picture 7" descr="workshop-ph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6583680" cy="44805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79" y="1645920"/>
            <a:ext cx="4023360" cy="44805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79" y="1645920"/>
            <a:ext cx="73152" cy="44805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99248" y="1792224"/>
            <a:ext cx="365760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Design check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99248" y="2304288"/>
            <a:ext cx="365760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Front promise → inside evidence → back contact; verify the folded proof.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17536" y="4617720"/>
            <a:ext cx="358444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18704" y="4800600"/>
            <a:ext cx="1448409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18704" y="5056632"/>
            <a:ext cx="2735884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18704" y="5276088"/>
            <a:ext cx="2212848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652760" y="5458968"/>
            <a:ext cx="566928" cy="21031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CITYCARE / DESIGN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Lab 01 · Clinic Booking Mobile specimen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203</a:t>
            </a:r>
          </a:p>
        </p:txBody>
      </p:sp>
      <p:pic>
        <p:nvPicPr>
          <p:cNvPr id="8" name="Picture 7" descr="speci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2348772" cy="45262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1645920"/>
            <a:ext cx="3291840" cy="45262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1645920"/>
            <a:ext cx="73152" cy="452628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30768" y="1792224"/>
            <a:ext cx="292608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Review criterion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0768" y="2304288"/>
            <a:ext cx="292608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390 px mobile; appointment completion &lt;= 45 seconds; large text and clear recovery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49056" y="4663440"/>
            <a:ext cx="285292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50224" y="4846320"/>
            <a:ext cx="1185062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50224" y="5102352"/>
            <a:ext cx="2238451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650224" y="5321807"/>
            <a:ext cx="181051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652760" y="5504688"/>
            <a:ext cx="566928" cy="21031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TRAILGOODS / DESIGN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Lab 02 · Responsive Retail Web specimen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204</a:t>
            </a:r>
          </a:p>
        </p:txBody>
      </p:sp>
      <p:pic>
        <p:nvPicPr>
          <p:cNvPr id="8" name="Picture 7" descr="speci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789420" cy="45262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1645920"/>
            <a:ext cx="3291840" cy="45262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1645920"/>
            <a:ext cx="73152" cy="452628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30768" y="1792224"/>
            <a:ext cx="292608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Review criterion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0768" y="2304288"/>
            <a:ext cx="292608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1440/768/390 px; card and button variants; keyboard focus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49056" y="4663440"/>
            <a:ext cx="285292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50224" y="4846320"/>
            <a:ext cx="1185062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50224" y="5102352"/>
            <a:ext cx="2238451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650224" y="5321807"/>
            <a:ext cx="181051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652760" y="5504688"/>
            <a:ext cx="566928" cy="21031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NEIGHBOURHOOD ARTS WEEK / DESIGN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Lab 03 · Festival Flyer and Landing Page specimen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205</a:t>
            </a:r>
          </a:p>
        </p:txBody>
      </p:sp>
      <p:pic>
        <p:nvPicPr>
          <p:cNvPr id="8" name="Picture 7" descr="speci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929624" cy="45262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1645920"/>
            <a:ext cx="3291840" cy="45262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1645920"/>
            <a:ext cx="73152" cy="452628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30768" y="1792224"/>
            <a:ext cx="292608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Review criterion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0768" y="2304288"/>
            <a:ext cx="292608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3 mm bleed; 5 mm safe zone; matching event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49056" y="4663440"/>
            <a:ext cx="285292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50224" y="4846320"/>
            <a:ext cx="1185062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50224" y="5102352"/>
            <a:ext cx="2238451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650224" y="5321807"/>
            <a:ext cx="181051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652760" y="5504688"/>
            <a:ext cx="566928" cy="21031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HARBOUR LEARNING / DESIGN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Lab 04 · Programme Brochure specimen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206</a:t>
            </a:r>
          </a:p>
        </p:txBody>
      </p:sp>
      <p:pic>
        <p:nvPicPr>
          <p:cNvPr id="8" name="Picture 7" descr="speci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789420" cy="45262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1645920"/>
            <a:ext cx="3291840" cy="45262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1645920"/>
            <a:ext cx="73152" cy="452628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30768" y="1792224"/>
            <a:ext cx="292608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Review criterion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0768" y="2304288"/>
            <a:ext cx="292608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Correct panel order; readable type; factual schedule and contact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49056" y="4663440"/>
            <a:ext cx="285292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50224" y="4846320"/>
            <a:ext cx="1185062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50224" y="5102352"/>
            <a:ext cx="2238451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650224" y="5321807"/>
            <a:ext cx="181051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652760" y="5504688"/>
            <a:ext cx="566928" cy="21031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TRAILGOODS / DESIGN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Lab 05 · Claude Design System specimen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207</a:t>
            </a:r>
          </a:p>
        </p:txBody>
      </p:sp>
      <p:pic>
        <p:nvPicPr>
          <p:cNvPr id="8" name="Picture 7" descr="speci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789420" cy="45262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1645920"/>
            <a:ext cx="3291840" cy="45262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1645920"/>
            <a:ext cx="73152" cy="452628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30768" y="1792224"/>
            <a:ext cx="292608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Review criterion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0768" y="2304288"/>
            <a:ext cx="292608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Review imported tokens and publish only after comparison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49056" y="4663440"/>
            <a:ext cx="285292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50224" y="4846320"/>
            <a:ext cx="1185062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50224" y="5102352"/>
            <a:ext cx="2238451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650224" y="5321807"/>
            <a:ext cx="181051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652760" y="5504688"/>
            <a:ext cx="566928" cy="21031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CITYCARE / DESIGN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Lab 06 · Validation and Handoff specimen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208</a:t>
            </a:r>
          </a:p>
        </p:txBody>
      </p:sp>
      <p:pic>
        <p:nvPicPr>
          <p:cNvPr id="8" name="Picture 7" descr="specim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789420" cy="45262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229600" y="1645920"/>
            <a:ext cx="3291840" cy="452628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1645920"/>
            <a:ext cx="73152" cy="452628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30768" y="1792224"/>
            <a:ext cx="2926080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Review criterion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0768" y="2304288"/>
            <a:ext cx="2926080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Five tests; success/time/error rules; export current design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49056" y="4663440"/>
            <a:ext cx="2852928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650224" y="4846320"/>
            <a:ext cx="1185062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50224" y="5102352"/>
            <a:ext cx="2238451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650224" y="5321807"/>
            <a:ext cx="181051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652760" y="5504688"/>
            <a:ext cx="566928" cy="21031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LO3 / 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Usability test results · worked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209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31520" y="1645920"/>
          <a:ext cx="6675120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7726679" y="1828800"/>
            <a:ext cx="3749039" cy="347472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26679" y="1828800"/>
            <a:ext cx="73152" cy="347472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7848" y="1975104"/>
            <a:ext cx="3383279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7848" y="2487168"/>
            <a:ext cx="3383279" cy="17830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Five comparable tests show task success rising from 3/5 to 5/5. Verify the same task and criteria.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46136" y="3794760"/>
            <a:ext cx="3310127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47304" y="3977640"/>
            <a:ext cx="1349654" cy="11887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47304" y="4233672"/>
            <a:ext cx="2549347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47304" y="4453128"/>
            <a:ext cx="2061972" cy="91440"/>
          </a:xfrm>
          <a:prstGeom prst="rect">
            <a:avLst/>
          </a:prstGeom>
          <a:solidFill>
            <a:srgbClr val="B9CC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607040" y="4636008"/>
            <a:ext cx="566928" cy="210312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WA → PP → SIGN-OFF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Assessment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210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Written Assessment · K1–K3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Practical Performance · A1–A7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Assessor feedback · C or NYC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Summary record and sign-off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LO4 / A6–A7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Final design handoff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211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Current export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Token and state specification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8873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35040" y="2148840"/>
            <a:ext cx="73152" cy="242316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00918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Change log + test evidence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3063240"/>
            <a:ext cx="18288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500" b="1">
                <a:solidFill>
                  <a:srgbClr val="F2A83A"/>
                </a:solidFill>
                <a:latin typeface="Arial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32520" y="2148840"/>
            <a:ext cx="2532888" cy="2423160"/>
          </a:xfrm>
          <a:prstGeom prst="rect">
            <a:avLst/>
          </a:prstGeom>
          <a:solidFill>
            <a:srgbClr val="EF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32520" y="2148840"/>
            <a:ext cx="73152" cy="2423160"/>
          </a:xfrm>
          <a:prstGeom prst="rect">
            <a:avLst/>
          </a:prstGeom>
          <a:solidFill>
            <a:srgbClr val="1B5B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33688" y="2295144"/>
            <a:ext cx="2167128" cy="402336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600" b="1">
                <a:solidFill>
                  <a:srgbClr val="1B5BA9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33688" y="2807208"/>
            <a:ext cx="2167128" cy="1645919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500" b="0">
                <a:solidFill>
                  <a:srgbClr val="14263F"/>
                </a:solidFill>
                <a:latin typeface="Arial"/>
              </a:rPr>
              <a:t>User guide and acceptance checklist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1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COURSE 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212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103120"/>
            <a:ext cx="10058400" cy="13716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4000" b="1">
                <a:solidFill>
                  <a:srgbClr val="14263F"/>
                </a:solidFill>
                <a:latin typeface="Arial"/>
              </a:rPr>
              <a:t>Design for real tasks.
Validate with evidence.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10058400" cy="27432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1100" b="1">
                <a:solidFill>
                  <a:srgbClr val="00918B"/>
                </a:solidFill>
                <a:latin typeface="Arial"/>
              </a:rPr>
              <a:t>COURSE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972800" cy="91440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2800" b="1">
                <a:solidFill>
                  <a:srgbClr val="14263F"/>
                </a:solidFill>
                <a:latin typeface="Arial"/>
              </a:rPr>
              <a:t>Login to LMS and Download Course Material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37960"/>
            <a:ext cx="91440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Mastering UI Design Techniques for Web and Mobile · TGS-2021010046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19672"/>
            <a:ext cx="457200" cy="182880"/>
          </a:xfrm>
          <a:prstGeom prst="rect">
            <a:avLst/>
          </a:prstGeom>
          <a:noFill/>
        </p:spPr>
        <p:txBody>
          <a:bodyPr wrap="square" lIns="36576" tIns="18288">
            <a:spAutoFit/>
          </a:bodyPr>
          <a:lstStyle/>
          <a:p>
            <a:r>
              <a:rPr sz="800" b="0">
                <a:solidFill>
                  <a:srgbClr val="556574"/>
                </a:solidFill>
                <a:latin typeface="Arial"/>
              </a:rPr>
              <a:t>5</a:t>
            </a:r>
          </a:p>
        </p:txBody>
      </p:sp>
      <p:pic>
        <p:nvPicPr>
          <p:cNvPr id="8" name="Picture 7" descr="ref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4965" y="1778508"/>
            <a:ext cx="8261764" cy="4110227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09584" y="5971031"/>
            <a:ext cx="10972527" cy="4594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>
                <a:solidFill>
                  <a:srgbClr val="475569"/>
                </a:solidFill>
                <a:latin typeface="Arial"/>
              </a:rPr>
              <a:t>Log in at lms-tms.tertiaryinfotech.com with your registered email and the OTP sent to your inbox, then open this course to download the slides and Learner Guide.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